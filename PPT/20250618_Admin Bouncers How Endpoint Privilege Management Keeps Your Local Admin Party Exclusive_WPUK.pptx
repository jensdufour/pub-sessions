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60"/>
  </p:notesMasterIdLst>
  <p:sldIdLst>
    <p:sldId id="373" r:id="rId6"/>
    <p:sldId id="256" r:id="rId7"/>
    <p:sldId id="263" r:id="rId8"/>
    <p:sldId id="264" r:id="rId9"/>
    <p:sldId id="266" r:id="rId10"/>
    <p:sldId id="274" r:id="rId11"/>
    <p:sldId id="267" r:id="rId12"/>
    <p:sldId id="268" r:id="rId13"/>
    <p:sldId id="314" r:id="rId14"/>
    <p:sldId id="280" r:id="rId15"/>
    <p:sldId id="284" r:id="rId16"/>
    <p:sldId id="285" r:id="rId17"/>
    <p:sldId id="286" r:id="rId18"/>
    <p:sldId id="289" r:id="rId19"/>
    <p:sldId id="287" r:id="rId20"/>
    <p:sldId id="288" r:id="rId21"/>
    <p:sldId id="290" r:id="rId22"/>
    <p:sldId id="371" r:id="rId23"/>
    <p:sldId id="313" r:id="rId24"/>
    <p:sldId id="281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5" r:id="rId33"/>
    <p:sldId id="311" r:id="rId34"/>
    <p:sldId id="308" r:id="rId35"/>
    <p:sldId id="312" r:id="rId36"/>
    <p:sldId id="309" r:id="rId37"/>
    <p:sldId id="307" r:id="rId38"/>
    <p:sldId id="310" r:id="rId39"/>
    <p:sldId id="319" r:id="rId40"/>
    <p:sldId id="304" r:id="rId41"/>
    <p:sldId id="372" r:id="rId42"/>
    <p:sldId id="316" r:id="rId43"/>
    <p:sldId id="291" r:id="rId44"/>
    <p:sldId id="292" r:id="rId45"/>
    <p:sldId id="296" r:id="rId46"/>
    <p:sldId id="318" r:id="rId47"/>
    <p:sldId id="277" r:id="rId48"/>
    <p:sldId id="278" r:id="rId49"/>
    <p:sldId id="279" r:id="rId50"/>
    <p:sldId id="269" r:id="rId51"/>
    <p:sldId id="271" r:id="rId52"/>
    <p:sldId id="293" r:id="rId53"/>
    <p:sldId id="294" r:id="rId54"/>
    <p:sldId id="295" r:id="rId55"/>
    <p:sldId id="270" r:id="rId56"/>
    <p:sldId id="320" r:id="rId57"/>
    <p:sldId id="272" r:id="rId58"/>
    <p:sldId id="370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6B5F0B-2FCD-4FC6-97CA-215F59750944}">
          <p14:sldIdLst>
            <p14:sldId id="373"/>
            <p14:sldId id="256"/>
            <p14:sldId id="263"/>
            <p14:sldId id="264"/>
            <p14:sldId id="266"/>
            <p14:sldId id="274"/>
            <p14:sldId id="267"/>
          </p14:sldIdLst>
        </p14:section>
        <p14:section name="Technical Introduction" id="{3B6EEFAE-C473-4362-852B-FAD9ABC591A1}">
          <p14:sldIdLst>
            <p14:sldId id="268"/>
            <p14:sldId id="314"/>
          </p14:sldIdLst>
        </p14:section>
        <p14:section name="Elevation Settings Policy - Demo" id="{D02C0C89-75C8-4E97-A07B-CD76AC7D51D7}">
          <p14:sldIdLst>
            <p14:sldId id="280"/>
            <p14:sldId id="284"/>
            <p14:sldId id="285"/>
            <p14:sldId id="286"/>
            <p14:sldId id="289"/>
            <p14:sldId id="287"/>
            <p14:sldId id="288"/>
            <p14:sldId id="290"/>
          </p14:sldIdLst>
        </p14:section>
        <p14:section name="Elevation Rules Policy" id="{D177B58F-4B88-49C9-B1D4-C10F10E3A6BD}">
          <p14:sldIdLst>
            <p14:sldId id="371"/>
            <p14:sldId id="313"/>
          </p14:sldIdLst>
        </p14:section>
        <p14:section name="Elevation Rules Policy - Demo" id="{D770B61E-804E-4248-871F-4BB7235FC5C8}">
          <p14:sldIdLst>
            <p14:sldId id="281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End-User Experience" id="{87715489-2558-4CEF-BA29-29D86E7874D1}">
          <p14:sldIdLst>
            <p14:sldId id="305"/>
          </p14:sldIdLst>
        </p14:section>
        <p14:section name="End-User Experience - Demo" id="{36390D19-B3ED-4542-819E-A8D87051A086}">
          <p14:sldIdLst>
            <p14:sldId id="311"/>
            <p14:sldId id="308"/>
            <p14:sldId id="312"/>
            <p14:sldId id="309"/>
            <p14:sldId id="307"/>
            <p14:sldId id="310"/>
          </p14:sldIdLst>
        </p14:section>
        <p14:section name="Elevation Requests - Demo" id="{DB37F0B0-B530-40FD-9C50-2A241BF3E154}">
          <p14:sldIdLst>
            <p14:sldId id="319"/>
            <p14:sldId id="304"/>
          </p14:sldIdLst>
        </p14:section>
        <p14:section name="Reusable Settings" id="{EAA30875-5090-4704-AC43-576A479BA277}">
          <p14:sldIdLst>
            <p14:sldId id="372"/>
          </p14:sldIdLst>
        </p14:section>
        <p14:section name="Reusable Settings - Demo" id="{71F51981-D0A1-4F3C-B547-4A12D9F73E1C}">
          <p14:sldIdLst>
            <p14:sldId id="316"/>
            <p14:sldId id="291"/>
            <p14:sldId id="292"/>
            <p14:sldId id="296"/>
          </p14:sldIdLst>
        </p14:section>
        <p14:section name="Reports - Demo" id="{EFB2EE21-5B0D-4F7D-979B-7942D0076F72}">
          <p14:sldIdLst>
            <p14:sldId id="318"/>
            <p14:sldId id="277"/>
            <p14:sldId id="278"/>
            <p14:sldId id="279"/>
          </p14:sldIdLst>
        </p14:section>
        <p14:section name="EpmTools" id="{F6A9FC0F-6BCC-4209-ADF4-D4B690483831}">
          <p14:sldIdLst>
            <p14:sldId id="269"/>
            <p14:sldId id="271"/>
            <p14:sldId id="293"/>
          </p14:sldIdLst>
        </p14:section>
        <p14:section name="EpmTools - Demo" id="{8DB57C72-1C62-4770-B7D7-387A87B7785F}">
          <p14:sldIdLst>
            <p14:sldId id="294"/>
            <p14:sldId id="295"/>
          </p14:sldIdLst>
        </p14:section>
        <p14:section name="Deployment Considerations" id="{7D3F90D1-B2EC-4A82-91BE-C625623002C5}">
          <p14:sldIdLst>
            <p14:sldId id="270"/>
            <p14:sldId id="320"/>
          </p14:sldIdLst>
        </p14:section>
        <p14:section name="Q&amp;A" id="{254922B1-05D3-4783-96D3-3C6B376211F5}">
          <p14:sldIdLst>
            <p14:sldId id="272"/>
          </p14:sldIdLst>
        </p14:section>
        <p14:section name="Sponsor Slide" id="{CDCD87EC-78EE-43FE-8AC0-8A12C52403C6}">
          <p14:sldIdLst>
            <p14:sldId id="3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DFF"/>
    <a:srgbClr val="156082"/>
    <a:srgbClr val="F20000"/>
    <a:srgbClr val="A31111"/>
    <a:srgbClr val="060D28"/>
    <a:srgbClr val="00174E"/>
    <a:srgbClr val="001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69016-367C-42BD-9888-FC56B7F0B1F8}" v="2" dt="2025-06-14T20:37:09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0315" autoAdjust="0"/>
  </p:normalViewPr>
  <p:slideViewPr>
    <p:cSldViewPr snapToGrid="0">
      <p:cViewPr varScale="1">
        <p:scale>
          <a:sx n="124" d="100"/>
          <a:sy n="124" d="100"/>
        </p:scale>
        <p:origin x="256" y="30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microsoft.com/office/2015/10/relationships/revisionInfo" Target="revisionInfo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 Du Four" userId="1ca15b9c-b412-4586-9d52-b6f7e0798091" providerId="ADAL" clId="{2B969016-367C-42BD-9888-FC56B7F0B1F8}"/>
    <pc:docChg chg="undo custSel addSld delSld modSld modSection">
      <pc:chgData name="Jens Du Four" userId="1ca15b9c-b412-4586-9d52-b6f7e0798091" providerId="ADAL" clId="{2B969016-367C-42BD-9888-FC56B7F0B1F8}" dt="2025-06-18T11:17:08.773" v="7" actId="729"/>
      <pc:docMkLst>
        <pc:docMk/>
      </pc:docMkLst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8464661" sldId="256"/>
        </pc:sldMkLst>
      </pc:sldChg>
      <pc:sldChg chg="add del">
        <pc:chgData name="Jens Du Four" userId="1ca15b9c-b412-4586-9d52-b6f7e0798091" providerId="ADAL" clId="{2B969016-367C-42BD-9888-FC56B7F0B1F8}" dt="2025-06-14T20:37:11.701" v="4" actId="47"/>
        <pc:sldMkLst>
          <pc:docMk/>
          <pc:sldMk cId="377835408" sldId="258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412162957" sldId="263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100782128" sldId="264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064416572" sldId="266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178915321" sldId="267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218992602" sldId="268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814724515" sldId="269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481755807" sldId="270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043300802" sldId="271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539169268" sldId="272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351181487" sldId="274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190859364" sldId="277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488637005" sldId="278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96388715" sldId="279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103855033" sldId="280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571561891" sldId="281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440405757" sldId="284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194538590" sldId="285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35779925" sldId="286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678028895" sldId="287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029632837" sldId="288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061723635" sldId="289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299864704" sldId="290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736344309" sldId="291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35522701" sldId="292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661038662" sldId="293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002859082" sldId="294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65506947" sldId="295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315331572" sldId="296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929177632" sldId="297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61400401" sldId="298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513371426" sldId="299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657918863" sldId="300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85011487" sldId="301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959890075" sldId="302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854833120" sldId="303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344364819" sldId="304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330319817" sldId="305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02316568" sldId="307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889495829" sldId="308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722825155" sldId="309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771174908" sldId="310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42530242" sldId="311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881563504" sldId="312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769502633" sldId="313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31126586" sldId="314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897398162" sldId="316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2144820667" sldId="318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761352453" sldId="319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402047369" sldId="320"/>
        </pc:sldMkLst>
      </pc:sldChg>
      <pc:sldChg chg="add">
        <pc:chgData name="Jens Du Four" userId="1ca15b9c-b412-4586-9d52-b6f7e0798091" providerId="ADAL" clId="{2B969016-367C-42BD-9888-FC56B7F0B1F8}" dt="2025-06-14T20:37:01.096" v="0"/>
        <pc:sldMkLst>
          <pc:docMk/>
          <pc:sldMk cId="3665679360" sldId="369"/>
        </pc:sldMkLst>
      </pc:sldChg>
      <pc:sldChg chg="add 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154592439" sldId="370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742756717" sldId="371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3581620159" sldId="372"/>
        </pc:sldMkLst>
      </pc:sldChg>
      <pc:sldChg chg="mod modShow">
        <pc:chgData name="Jens Du Four" userId="1ca15b9c-b412-4586-9d52-b6f7e0798091" providerId="ADAL" clId="{2B969016-367C-42BD-9888-FC56B7F0B1F8}" dt="2025-06-18T11:17:08.773" v="7" actId="729"/>
        <pc:sldMkLst>
          <pc:docMk/>
          <pc:sldMk cId="1170913678" sldId="3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BAF61-F588-45BF-B44D-247D5A22E576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3C7D5-4A52-40FA-A438-BC0D90C30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99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intune/intune-service/protect/epm-overview#getting-started-with-endpoint-privilege-management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intune/intune-service/protect/epm-overview#getting-started-with-endpoint-privilege-management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intune/intune-service/protect/epm-overview#getting-started-with-endpoint-privilege-management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intune/intune-service/protect/epm-overview#getting-started-with-endpoint-privilege-management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intune/intune-service/protect/epm-deployment-considerations-ki#organizations-using-application-control-for-business-might-experience-issues-running-endpoint-privilege-management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B527D-558F-5921-345F-9A094D34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ABB35-CC61-0AF7-0905-773B99C7E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78B81-3153-9FD9-3067-7A5118AF5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EAA10-6EB0-2677-2AFF-A3C7F8E3B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93C7D5-4A52-40FA-A438-BC0D90C30E1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12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Workplace Ninjas UK assumes you have </a:t>
            </a:r>
            <a:r>
              <a:rPr lang="en-GB" sz="1200" dirty="0">
                <a:solidFill>
                  <a:srgbClr val="FFFF00"/>
                </a:solidFill>
              </a:rPr>
              <a:t>sought appropriate permission </a:t>
            </a:r>
            <a:r>
              <a:rPr lang="en-GB" sz="1200" dirty="0"/>
              <a:t>to use the content in your presentation. It is </a:t>
            </a:r>
            <a:r>
              <a:rPr lang="en-GB" sz="1200" dirty="0">
                <a:solidFill>
                  <a:srgbClr val="FFFF00"/>
                </a:solidFill>
              </a:rPr>
              <a:t>your responsibility </a:t>
            </a:r>
            <a:r>
              <a:rPr lang="en-GB" sz="1200" dirty="0"/>
              <a:t>to ensure you are not breaking NDAs or infringing on copyright notices.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60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this to add speaker bio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692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Learn about using Endpoint Privilege Management with Microsoft Intune | Microsoft Learn</a:t>
            </a:r>
            <a:endParaRPr lang="LID4096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84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9BBE-D3EA-929B-6392-19AB2708A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B56F52F-B124-68F0-DDBB-F77C90D8D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C5D72A8-B343-08B6-32C4-BFD2C4BD2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Learn about using Endpoint Privilege Management with Microsoft Intune | Microsoft Learn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3D8E7BD-FBD6-92AE-76DF-07E9F1CF4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419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Elevation Settings Policy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941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8BB69-D694-3162-9615-A0E67068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E4F7511-5A7C-0414-21FE-8F9F7721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B66D408-566E-820E-DA7F-20381284D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Learn about using Endpoint Privilege Management with Microsoft Intune | Microsoft Learn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526BB9-8EBC-1EA7-316F-1D45F16C8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93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0,55 </a:t>
            </a:r>
            <a:r>
              <a:rPr lang="en-US" dirty="0" err="1"/>
              <a:t>tussen</a:t>
            </a:r>
            <a:r>
              <a:rPr lang="en-US" dirty="0"/>
              <a:t> 3 </a:t>
            </a:r>
            <a:r>
              <a:rPr lang="en-US" dirty="0" err="1"/>
              <a:t>kolommen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353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Elevation Rules Policy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39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93AD-058D-61B6-B9EA-BEC1409E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3EC40-5DC4-AEBB-D369-5555C5BE3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B8482-46FC-EBB5-6945-99622B542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0,55 </a:t>
            </a:r>
            <a:r>
              <a:rPr lang="en-US" dirty="0" err="1"/>
              <a:t>tussen</a:t>
            </a:r>
            <a:r>
              <a:rPr lang="en-US" dirty="0"/>
              <a:t> 3 </a:t>
            </a:r>
            <a:r>
              <a:rPr lang="en-US" dirty="0" err="1"/>
              <a:t>kolommen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5F8D9-4BF8-DCD2-BBD3-266070E23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998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AC73C-ACFF-DE73-B2F4-D566491A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CB4CA-73B7-F7AD-7929-35C74E0B2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D4941-799F-3CC3-AA2C-DE5D3646B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0,55 </a:t>
            </a:r>
            <a:r>
              <a:rPr lang="en-US" dirty="0" err="1"/>
              <a:t>tussen</a:t>
            </a:r>
            <a:r>
              <a:rPr lang="en-US" dirty="0"/>
              <a:t> 3 </a:t>
            </a:r>
            <a:r>
              <a:rPr lang="en-US" dirty="0" err="1"/>
              <a:t>kolommen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F83AE-766E-37BD-36CA-7B8A8675C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310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0,55 </a:t>
            </a:r>
            <a:r>
              <a:rPr lang="en-US" dirty="0" err="1"/>
              <a:t>tussen</a:t>
            </a:r>
            <a:r>
              <a:rPr lang="en-US" dirty="0"/>
              <a:t> 3 </a:t>
            </a:r>
            <a:r>
              <a:rPr lang="en-US" dirty="0" err="1"/>
              <a:t>kolommen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353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ECC6-164C-8244-4747-2E948F08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E1A82B5-61AB-BD50-4B85-8ED3E983D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440AA2F-6A29-A813-6348-913EB0400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Learn about using Endpoint Privilege Management with Microsoft Intune | Microsoft Learn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A81C4E-1426-7123-99D2-2EC92B5F9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829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to how to get these Certificate files -&gt; </a:t>
            </a:r>
            <a:r>
              <a:rPr lang="en-US" dirty="0" err="1"/>
              <a:t>EpmTools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089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Import-Module “C:\Program Files\Microsoft EPM Agent\</a:t>
            </a:r>
            <a:r>
              <a:rPr lang="en-US" dirty="0" err="1"/>
              <a:t>EpmTools</a:t>
            </a:r>
            <a:r>
              <a:rPr lang="en-US" dirty="0"/>
              <a:t>\EpmCmdlets.dll”</a:t>
            </a:r>
            <a:endParaRPr lang="LID4096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0112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2CBC-5323-16B0-1F2B-226BD9F8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4728395-F094-E834-EBD0-9F3B54493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A460710-1161-6EB1-E486-B7F2128CC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Get-Command –Module </a:t>
            </a:r>
            <a:r>
              <a:rPr lang="en-US" dirty="0" err="1"/>
              <a:t>EpmCmdlets</a:t>
            </a:r>
            <a:endParaRPr lang="en-US" dirty="0"/>
          </a:p>
          <a:p>
            <a:r>
              <a:rPr lang="en-US" dirty="0"/>
              <a:t>Get-</a:t>
            </a:r>
            <a:r>
              <a:rPr lang="en-US" dirty="0" err="1"/>
              <a:t>DeclaredConfiguration</a:t>
            </a:r>
            <a:r>
              <a:rPr lang="en-US" dirty="0"/>
              <a:t> -</a:t>
            </a:r>
            <a:r>
              <a:rPr lang="en-US" dirty="0" err="1"/>
              <a:t>PolicyType</a:t>
            </a:r>
            <a:endParaRPr lang="en-US" dirty="0"/>
          </a:p>
          <a:p>
            <a:r>
              <a:rPr lang="en-US" dirty="0"/>
              <a:t>Get-</a:t>
            </a:r>
            <a:r>
              <a:rPr lang="en-US" dirty="0" err="1"/>
              <a:t>FileAttributes</a:t>
            </a:r>
            <a:r>
              <a:rPr lang="en-US" dirty="0"/>
              <a:t> –</a:t>
            </a:r>
            <a:r>
              <a:rPr lang="en-US" dirty="0" err="1"/>
              <a:t>FilePath</a:t>
            </a:r>
            <a:r>
              <a:rPr lang="en-US" dirty="0"/>
              <a:t> "C:\Users\SystemAdministrator\OneDrive - Stellar Dynamics EU\Desktop\wireshark.exe" –</a:t>
            </a:r>
            <a:r>
              <a:rPr lang="en-US" dirty="0" err="1"/>
              <a:t>CertOutputPath</a:t>
            </a:r>
            <a:r>
              <a:rPr lang="en-US" dirty="0"/>
              <a:t> ".\output"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8CEF53-7C07-817D-6071-5F50B7FBB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469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Deployment considerations for Endpoint Privilege Management | Microsoft Learn</a:t>
            </a:r>
            <a:endParaRPr lang="LID4096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776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486A-8E63-DB26-C9D1-6BCD7BBA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4823B-BC82-B722-1824-DD364B876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ED996-1C0C-8D83-CBB8-046BC56BD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2ED24-CE04-31A6-49AE-7A0430489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93C7D5-4A52-40FA-A438-BC0D90C30E1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76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rgbClr val="060D28"/>
            </a:gs>
            <a:gs pos="50000">
              <a:srgbClr val="00174E"/>
            </a:gs>
            <a:gs pos="100000">
              <a:srgbClr val="060D2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ity with a clock tower&#10;&#10;AI-generated content may be incorrect.">
            <a:extLst>
              <a:ext uri="{FF2B5EF4-FFF2-40B4-BE49-F238E27FC236}">
                <a16:creationId xmlns:a16="http://schemas.microsoft.com/office/drawing/2014/main" id="{58795E56-F69F-8C0E-B76E-F7EC666C8D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1219"/>
            <a:ext cx="12192000" cy="8142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056568-9AAB-8E44-9C13-DD47C59442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4800">
                <a:latin typeface="Aptos Black" panose="020F0502020204030204" pitchFamily="34" charset="0"/>
              </a:defRPr>
            </a:lvl1pPr>
          </a:lstStyle>
          <a:p>
            <a:r>
              <a:rPr lang="en-US" dirty="0"/>
              <a:t>SESSION NAME</a:t>
            </a:r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1E3D71-5473-58BD-5CF4-52FB3AD4362C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A34B245-7F2E-6F31-477F-2048B88717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909" y="400649"/>
            <a:ext cx="5396182" cy="885683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BF456E57-6D6F-B9BC-0266-15663C0CB204}"/>
              </a:ext>
            </a:extLst>
          </p:cNvPr>
          <p:cNvSpPr txBox="1">
            <a:spLocks/>
          </p:cNvSpPr>
          <p:nvPr userDrawn="1"/>
        </p:nvSpPr>
        <p:spPr>
          <a:xfrm>
            <a:off x="1524000" y="4197515"/>
            <a:ext cx="333375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07DFF"/>
                </a:solidFill>
                <a:latin typeface="Aptos Black" panose="020B00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4CB56A7-5B0E-177C-D6BB-3C2F7EA371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979681"/>
            <a:ext cx="3057525" cy="47629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007DFF"/>
                </a:solidFill>
                <a:latin typeface="Aptos Black" panose="020B0004020202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Firstname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Lastname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B1F8AE7-83F6-D49B-4CF8-4673FA4C38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10477" y="3979680"/>
            <a:ext cx="3057525" cy="476297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007DFF"/>
                </a:solidFill>
                <a:latin typeface="Aptos Black" panose="020B0004020202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Firstname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Lastname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38C19-9C7F-2D19-BC13-10B31A08A2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479B86-361D-4E22-9189-B9EDCB3D25DF}" type="datetime1">
              <a:rPr lang="en-GB" smtClean="0"/>
              <a:pPr/>
              <a:t>18/06/2025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46C15-C2FD-C718-2246-060106B374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6DF068-EB82-87AF-8EDE-F3A481C464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0D3ED71-38B9-4E15-91D4-5665327CBC1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619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72E8-40C2-1C63-C768-007F951A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D9B5-38FF-5E68-F8A8-266626F5E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38917171-3955-B5F4-3B99-D4B48DC334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44CC109-ADE9-6281-9084-08D05EEEC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8008D6-C87E-79EE-69C3-EA6269BEE695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91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CD344EFD-92BE-ADC7-9986-5D2B941569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5D7D43-4CD7-FD5A-D190-F3820F5EB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58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F3A2-F11E-BE9E-8D7F-C88A70C53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1DCCA-5D91-3178-DBFE-BB43E9028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96754" y="457200"/>
            <a:ext cx="4354718" cy="34385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F4B3F-76D1-02D5-2C00-E80E8E80A16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Background / Experience</a:t>
            </a:r>
          </a:p>
        </p:txBody>
      </p:sp>
      <p:pic>
        <p:nvPicPr>
          <p:cNvPr id="8" name="Picture 7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F962F952-0E63-8B85-13E5-A9EC47E36F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DECCAA5-B7C7-8D1E-51AE-0AADDAB4C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D6D9FD8-A0D9-B708-8724-D737FA825D2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596754" y="4279431"/>
            <a:ext cx="4354718" cy="15895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Social Media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92FCEC-7CA6-F873-51FC-B1A18BF2ABC5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019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CBD9-D939-C015-39FC-43F8821A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1BEA-4D80-F066-EEDD-A11205F91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0879-0987-57BC-0770-2113DC43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E30F15B8-42B3-1664-94A9-7B6A56A2A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489BDC-F591-886F-FF98-8B2C306D1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AE8A65-13C2-0712-26E0-02E887788DEF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78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79EB-9AA1-7BFE-A5A6-90CE86A8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988AC-1309-2D02-1B55-5FB961948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50041-FA74-A196-E404-D5D6DF1D8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3E23E-00ED-3A0B-EE81-9476A6BDF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50A1A-120F-933E-7482-D2616708B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0" name="Picture 9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2412F638-15DB-7504-3E95-B290E096E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C7EA2FA-2CFC-F7ED-29F7-B75AFA015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6188AC-FDBB-019E-17D3-3587B722DFED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48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2E1B-E3B9-BA1A-EF9D-D7A13D5C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Picture 5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E942B1EB-B049-D0C2-5126-EC08E1097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DCCD6F-297E-AFB7-9281-E3E9D71E9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3A75FD-6650-ECE7-3E53-2D34E3486C97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80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F311-2A04-F087-3C3F-4A446366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4927B-2EEA-127E-12E5-F0CCDDDE6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0D444-C02C-16F4-9EBE-D25717410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4B1EE0DA-4E4A-AC7F-1845-FE17BABD16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7F5085-6188-3C2F-8BED-B8C5736FB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B637C-B484-F5F6-46F0-CB64DE047C5B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76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onso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04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C25ED-A3DF-C8BE-6505-9FDEAC96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61990-FDBA-3668-4EAE-5D1DE60B4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0060E8C-EBDF-D763-B202-31C54C951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53479B86-361D-4E22-9189-B9EDCB3D25DF}" type="datetime1">
              <a:rPr lang="en-GB" smtClean="0"/>
              <a:pPr/>
              <a:t>18/06/2025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DB15E6B-D432-5300-C0CD-428FFBB31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61594"/>
            <a:ext cx="411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505BDA-4F09-A002-C2E6-0FF8F4BFE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10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7" r:id="rId4"/>
    <p:sldLayoutId id="2147483652" r:id="rId5"/>
    <p:sldLayoutId id="2147483653" r:id="rId6"/>
    <p:sldLayoutId id="2147483654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37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aka.ms/IntuneSuitePricing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gif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A0881-EA7B-611C-FEA5-D920A141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A180A26-3B27-5DA5-00CC-5DCFC04D2174}"/>
              </a:ext>
            </a:extLst>
          </p:cNvPr>
          <p:cNvSpPr>
            <a:spLocks/>
          </p:cNvSpPr>
          <p:nvPr/>
        </p:nvSpPr>
        <p:spPr>
          <a:xfrm>
            <a:off x="66675" y="1896387"/>
            <a:ext cx="12058650" cy="220666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017247-EC2A-877E-9116-C5F7BE902CD8}"/>
              </a:ext>
            </a:extLst>
          </p:cNvPr>
          <p:cNvSpPr/>
          <p:nvPr/>
        </p:nvSpPr>
        <p:spPr>
          <a:xfrm>
            <a:off x="66675" y="5822589"/>
            <a:ext cx="4431906" cy="100893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59E9B3-4D06-DFDA-E9B5-B1DD6A0B5DBE}"/>
              </a:ext>
            </a:extLst>
          </p:cNvPr>
          <p:cNvSpPr/>
          <p:nvPr/>
        </p:nvSpPr>
        <p:spPr>
          <a:xfrm>
            <a:off x="66675" y="4199802"/>
            <a:ext cx="12058650" cy="1508504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C0C0C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4A9E0C-1717-29BB-70D9-22D0F7B3DCFF}"/>
              </a:ext>
            </a:extLst>
          </p:cNvPr>
          <p:cNvSpPr/>
          <p:nvPr/>
        </p:nvSpPr>
        <p:spPr>
          <a:xfrm>
            <a:off x="66675" y="64576"/>
            <a:ext cx="12058650" cy="1726017"/>
          </a:xfrm>
          <a:prstGeom prst="rect">
            <a:avLst/>
          </a:prstGeom>
          <a:noFill/>
          <a:ln w="76200" cap="rnd">
            <a:solidFill>
              <a:schemeClr val="accent4">
                <a:lumMod val="20000"/>
                <a:lumOff val="80000"/>
              </a:schemeClr>
            </a:solidFill>
            <a:prstDash val="solid"/>
            <a:beve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 descr="A black and purple logo&#10;&#10;AI-generated content may be incorrect.">
            <a:extLst>
              <a:ext uri="{FF2B5EF4-FFF2-40B4-BE49-F238E27FC236}">
                <a16:creationId xmlns:a16="http://schemas.microsoft.com/office/drawing/2014/main" id="{F3DE5E21-7874-F13D-487B-AEEEA57E6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35" y="6094440"/>
            <a:ext cx="1440000" cy="465231"/>
          </a:xfrm>
          <a:prstGeom prst="rect">
            <a:avLst/>
          </a:prstGeom>
        </p:spPr>
      </p:pic>
      <p:pic>
        <p:nvPicPr>
          <p:cNvPr id="5" name="Picture 4" descr="A yellow arrow and a black background&#10;&#10;AI-generated content may be incorrect.">
            <a:extLst>
              <a:ext uri="{FF2B5EF4-FFF2-40B4-BE49-F238E27FC236}">
                <a16:creationId xmlns:a16="http://schemas.microsoft.com/office/drawing/2014/main" id="{AA968772-7CD0-297F-3001-BCBE90521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125" y="196535"/>
            <a:ext cx="1401267" cy="1385897"/>
          </a:xfrm>
          <a:prstGeom prst="rect">
            <a:avLst/>
          </a:prstGeo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7BF6276-264C-A10E-E161-BB73D3E7B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907" y="278729"/>
            <a:ext cx="3399974" cy="1077172"/>
          </a:xfrm>
          <a:prstGeom prst="rect">
            <a:avLst/>
          </a:prstGeom>
        </p:spPr>
      </p:pic>
      <p:pic>
        <p:nvPicPr>
          <p:cNvPr id="13" name="Picture 12" descr="A black and grey logo&#10;&#10;AI-generated content may be incorrect.">
            <a:extLst>
              <a:ext uri="{FF2B5EF4-FFF2-40B4-BE49-F238E27FC236}">
                <a16:creationId xmlns:a16="http://schemas.microsoft.com/office/drawing/2014/main" id="{EABFE5B4-E1EB-D435-1A0E-9F916140AC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07" y="2155214"/>
            <a:ext cx="2160000" cy="46068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06F473F-E139-35F4-877D-F55F4202FC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0944" y="2217897"/>
            <a:ext cx="2985056" cy="490876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7BA5D73D-19E4-8676-5D13-B06A84E0B3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971" y="2381805"/>
            <a:ext cx="2731500" cy="32655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895EBD4-7C73-BB93-09D6-A252EA2D22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428" y="3255558"/>
            <a:ext cx="1886697" cy="58502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37AB40E-C6AF-AC4D-18AC-5B49C80429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312" y="3048271"/>
            <a:ext cx="1488523" cy="669768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163206C8-A7EE-AD66-D721-A5F9B28960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62263" y="4971536"/>
            <a:ext cx="1329844" cy="51430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59026C7-7C75-808B-F98D-4B9B4DF13D8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49000" y="4370253"/>
            <a:ext cx="2247000" cy="506366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8A5EAED-539F-6A72-F13B-7E350B748A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251841" y="5103036"/>
            <a:ext cx="2657425" cy="40830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11CBF45-71EE-E3D4-8430-7594E3A5CF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65175" y="5095746"/>
            <a:ext cx="1981171" cy="347512"/>
          </a:xfrm>
          <a:prstGeom prst="rect">
            <a:avLst/>
          </a:prstGeom>
        </p:spPr>
      </p:pic>
      <p:pic>
        <p:nvPicPr>
          <p:cNvPr id="30" name="Picture 29" descr="A close up of a logo&#10;&#10;AI-generated content may be incorrect.">
            <a:extLst>
              <a:ext uri="{FF2B5EF4-FFF2-40B4-BE49-F238E27FC236}">
                <a16:creationId xmlns:a16="http://schemas.microsoft.com/office/drawing/2014/main" id="{33AD4118-F4D0-C842-25C1-CA0F6B57030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07" y="6038069"/>
            <a:ext cx="1440000" cy="7059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6E86B98-7528-724D-D9A8-1C4E4057D9B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938" y="2154069"/>
            <a:ext cx="1255815" cy="66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F8EF813-A994-55F7-6669-63329B93988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777" y="3329451"/>
            <a:ext cx="2160000" cy="3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5AE6638-6C93-9A0E-946A-C9BEB68AD32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331" y="3112902"/>
            <a:ext cx="2651549" cy="69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3AF8900-BA48-C594-A20C-6D70C9D609E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0032" y="4324071"/>
            <a:ext cx="1828933" cy="51430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D0ECA9B-A546-A082-6092-27F234FD385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846199" y="4324071"/>
            <a:ext cx="1179942" cy="6425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1F9609-834A-245B-1EC2-58AD03E213C1}"/>
              </a:ext>
            </a:extLst>
          </p:cNvPr>
          <p:cNvSpPr txBox="1"/>
          <p:nvPr/>
        </p:nvSpPr>
        <p:spPr>
          <a:xfrm>
            <a:off x="8271080" y="5750809"/>
            <a:ext cx="3854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EVENT PARTNERS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5447E-6DF9-2EB8-2719-F93C2369352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82303" y="6017969"/>
            <a:ext cx="2705899" cy="603759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2C9CBF0-A8D9-4D88-5198-3220819D3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957" y="5953753"/>
            <a:ext cx="669768" cy="66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10F5DB-04D6-4E90-1885-E5D1A85F04F7}"/>
              </a:ext>
            </a:extLst>
          </p:cNvPr>
          <p:cNvSpPr txBox="1"/>
          <p:nvPr/>
        </p:nvSpPr>
        <p:spPr>
          <a:xfrm>
            <a:off x="3648140" y="5832830"/>
            <a:ext cx="910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SPONSORS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5FD93-B059-C881-2CF7-7B073FECE006}"/>
              </a:ext>
            </a:extLst>
          </p:cNvPr>
          <p:cNvSpPr txBox="1"/>
          <p:nvPr/>
        </p:nvSpPr>
        <p:spPr>
          <a:xfrm>
            <a:off x="11473314" y="4242305"/>
            <a:ext cx="1611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SILVER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DE307-D0A1-8BE0-BA35-011DE8E7FBC4}"/>
              </a:ext>
            </a:extLst>
          </p:cNvPr>
          <p:cNvSpPr txBox="1"/>
          <p:nvPr/>
        </p:nvSpPr>
        <p:spPr>
          <a:xfrm>
            <a:off x="11538094" y="1953442"/>
            <a:ext cx="1611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527CAA-E81E-1917-FD46-324A48F792AF}"/>
              </a:ext>
            </a:extLst>
          </p:cNvPr>
          <p:cNvSpPr txBox="1"/>
          <p:nvPr/>
        </p:nvSpPr>
        <p:spPr>
          <a:xfrm>
            <a:off x="11319410" y="112449"/>
            <a:ext cx="1611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PLATINUM</a:t>
            </a:r>
          </a:p>
        </p:txBody>
      </p:sp>
    </p:spTree>
    <p:extLst>
      <p:ext uri="{BB962C8B-B14F-4D97-AF65-F5344CB8AC3E}">
        <p14:creationId xmlns:p14="http://schemas.microsoft.com/office/powerpoint/2010/main" val="1170913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292"/>
    </mc:Choice>
    <mc:Fallback>
      <p:transition spd="slow" advTm="262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3369-8F30-FEF1-A357-5A24B2023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1119"/>
            <a:ext cx="9144000" cy="1655763"/>
          </a:xfrm>
        </p:spPr>
        <p:txBody>
          <a:bodyPr>
            <a:noAutofit/>
          </a:bodyPr>
          <a:lstStyle/>
          <a:p>
            <a:r>
              <a:rPr lang="en-US" sz="4400" dirty="0"/>
              <a:t>	Admin Bouncers: How Endpoint Privilege Management Keeps Your Local Admin Party Exclusive!	</a:t>
            </a:r>
            <a:endParaRPr lang="en-GB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1EDD13-15E1-1A99-32DB-3BA659645B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36811" y="6261594"/>
            <a:ext cx="2743200" cy="365125"/>
          </a:xfrm>
        </p:spPr>
        <p:txBody>
          <a:bodyPr/>
          <a:lstStyle/>
          <a:p>
            <a:fld id="{9F621982-67CF-4DE6-9B69-E7E59DF16CF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205D9-5049-0EF0-E20D-80248C94C8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10475" y="5021089"/>
            <a:ext cx="3057525" cy="476297"/>
          </a:xfrm>
        </p:spPr>
        <p:txBody>
          <a:bodyPr>
            <a:normAutofit/>
          </a:bodyPr>
          <a:lstStyle/>
          <a:p>
            <a:r>
              <a:rPr lang="en-GB" dirty="0"/>
              <a:t>Jens Du Four </a:t>
            </a:r>
          </a:p>
        </p:txBody>
      </p:sp>
    </p:spTree>
    <p:extLst>
      <p:ext uri="{BB962C8B-B14F-4D97-AF65-F5344CB8AC3E}">
        <p14:creationId xmlns:p14="http://schemas.microsoft.com/office/powerpoint/2010/main" val="38464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706"/>
    </mc:Choice>
    <mc:Fallback>
      <p:transition spd="slow" advTm="107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EAC2-F681-68B5-43E6-7B4141AB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Jens Du Four</a:t>
            </a:r>
          </a:p>
        </p:txBody>
      </p:sp>
      <p:pic>
        <p:nvPicPr>
          <p:cNvPr id="8" name="Tijdelijke aanduiding voor afbeelding 7" descr="Afbeelding met persoon, kleding, Formele kleding, gebouw&#10;&#10;Door AI gegenereerde inhoud is mogelijk onjuist.">
            <a:extLst>
              <a:ext uri="{FF2B5EF4-FFF2-40B4-BE49-F238E27FC236}">
                <a16:creationId xmlns:a16="http://schemas.microsoft.com/office/drawing/2014/main" id="{AC0034D2-CA3B-10C8-973F-E1712D0D094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2" b="33203"/>
          <a:stretch/>
        </p:blipFill>
        <p:spPr>
          <a:xfrm>
            <a:off x="6596754" y="457200"/>
            <a:ext cx="4354718" cy="34385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86A13-6077-9F97-B0D3-0E76B08EF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Cloud Endpoint Technical Specialist @ Microsoft </a:t>
            </a:r>
            <a:r>
              <a:rPr lang="en-GB" sz="2000" dirty="0" err="1"/>
              <a:t>BeLux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Teacher @ </a:t>
            </a:r>
            <a:r>
              <a:rPr lang="en-GB" sz="2000" dirty="0" err="1"/>
              <a:t>CodeFever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Crew Member @ MC2MC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Microsoft Certified Trainer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D1139-D615-A8D5-6C0D-6ECE34613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A5FBF2-9FF4-2B05-065A-2976EF770DE5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GB" dirty="0"/>
              <a:t>     https://www.facebook.com/dufour.jens</a:t>
            </a:r>
          </a:p>
          <a:p>
            <a:r>
              <a:rPr lang="en-GB" dirty="0"/>
              <a:t>     https://www.instagram.com/jens.dufour/</a:t>
            </a:r>
          </a:p>
          <a:p>
            <a:r>
              <a:rPr lang="en-GB" dirty="0"/>
              <a:t>     https://www.linkedin.com/in/jensdufour/</a:t>
            </a:r>
          </a:p>
          <a:p>
            <a:r>
              <a:rPr lang="en-GB" dirty="0"/>
              <a:t>     https://jensdufour.be/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F2DE32D1-D61D-F754-0F8B-981712D6938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596754" y="4290064"/>
            <a:ext cx="274320" cy="27432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B776948E-CAB6-886C-1CE4-CC00EA16DF8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6596754" y="4639871"/>
            <a:ext cx="274320" cy="27432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669C5665-96BA-73D8-2DC7-8231AFE04F9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6596754" y="5339484"/>
            <a:ext cx="274320" cy="274320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A7FB3B44-0099-5658-944F-D2C747E10DE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6596754" y="4989678"/>
            <a:ext cx="274320" cy="274320"/>
          </a:xfrm>
          <a:prstGeom prst="rect">
            <a:avLst/>
          </a:prstGeom>
          <a:solidFill>
            <a:srgbClr val="060D28"/>
          </a:solidFill>
        </p:spPr>
      </p:pic>
    </p:spTree>
    <p:extLst>
      <p:ext uri="{BB962C8B-B14F-4D97-AF65-F5344CB8AC3E}">
        <p14:creationId xmlns:p14="http://schemas.microsoft.com/office/powerpoint/2010/main" val="3412162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822"/>
    </mc:Choice>
    <mc:Fallback>
      <p:transition spd="slow" advTm="538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9972FC5-8D8B-0882-1306-A360E3C07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050D94-8D37-8B9D-C855-B3AD10DCBD7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The elephant in the room</a:t>
            </a: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56C24560-CADA-247C-93D4-2AF6EBFBD054}"/>
              </a:ext>
            </a:extLst>
          </p:cNvPr>
          <p:cNvSpPr txBox="1"/>
          <p:nvPr/>
        </p:nvSpPr>
        <p:spPr>
          <a:xfrm>
            <a:off x="1234147" y="6124307"/>
            <a:ext cx="3888972" cy="430887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defRPr/>
            </a:pPr>
            <a:r>
              <a:rPr lang="en-US" sz="1100" i="1" dirty="0">
                <a:solidFill>
                  <a:schemeClr val="bg1"/>
                </a:solidFill>
                <a:latin typeface="Segoe UI"/>
                <a:cs typeface="Segoe UI"/>
              </a:rPr>
              <a:t> 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cs typeface="Segoe UI"/>
              </a:rPr>
              <a:t>*Also available as individual add-ons</a:t>
            </a:r>
          </a:p>
          <a:p>
            <a:pPr>
              <a:defRPr/>
            </a:pPr>
            <a:r>
              <a:rPr lang="en-US" sz="1100" i="1" dirty="0">
                <a:solidFill>
                  <a:schemeClr val="bg1"/>
                </a:solidFill>
                <a:latin typeface="Segoe UI"/>
                <a:cs typeface="Segoe UI"/>
              </a:rPr>
              <a:t> 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cs typeface="Segoe 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cs typeface="Segoe 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IntuneSuitePricing</a:t>
            </a:r>
            <a:r>
              <a:rPr lang="en-US" sz="1100" i="1" dirty="0">
                <a:solidFill>
                  <a:schemeClr val="bg1"/>
                </a:solidFill>
                <a:latin typeface="Segoe UI"/>
                <a:cs typeface="Segoe UI"/>
              </a:rPr>
              <a:t> </a:t>
            </a:r>
            <a:endParaRPr lang="en-US" sz="11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4" name="Groep 23">
            <a:extLst>
              <a:ext uri="{FF2B5EF4-FFF2-40B4-BE49-F238E27FC236}">
                <a16:creationId xmlns:a16="http://schemas.microsoft.com/office/drawing/2014/main" id="{A381BCB9-2D7A-A1DC-3B8F-7D2A9E3A205A}"/>
              </a:ext>
            </a:extLst>
          </p:cNvPr>
          <p:cNvGrpSpPr/>
          <p:nvPr/>
        </p:nvGrpSpPr>
        <p:grpSpPr>
          <a:xfrm>
            <a:off x="1213673" y="979443"/>
            <a:ext cx="9764654" cy="5513432"/>
            <a:chOff x="1279705" y="1004282"/>
            <a:chExt cx="9764654" cy="5513432"/>
          </a:xfrm>
        </p:grpSpPr>
        <p:sp>
          <p:nvSpPr>
            <p:cNvPr id="3" name="Round Same Side Corner Rectangle 44">
              <a:extLst>
                <a:ext uri="{FF2B5EF4-FFF2-40B4-BE49-F238E27FC236}">
                  <a16:creationId xmlns:a16="http://schemas.microsoft.com/office/drawing/2014/main" id="{C02BFF89-4AEC-A909-A415-834E12591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279705" y="2463990"/>
              <a:ext cx="3843414" cy="2983828"/>
            </a:xfrm>
            <a:prstGeom prst="round2SameRect">
              <a:avLst>
                <a:gd name="adj1" fmla="val 7886"/>
                <a:gd name="adj2" fmla="val 904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5" name="Straight Connector 3">
              <a:extLst>
                <a:ext uri="{FF2B5EF4-FFF2-40B4-BE49-F238E27FC236}">
                  <a16:creationId xmlns:a16="http://schemas.microsoft.com/office/drawing/2014/main" id="{129EA50D-5527-0E74-78F5-57B4FC8E2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537450" y="3247792"/>
              <a:ext cx="3346066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 Single Corner Rectangle 26">
              <a:extLst>
                <a:ext uri="{FF2B5EF4-FFF2-40B4-BE49-F238E27FC236}">
                  <a16:creationId xmlns:a16="http://schemas.microsoft.com/office/drawing/2014/main" id="{A067D823-353E-6F50-BFC4-876EABD7F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1537444" y="2252283"/>
              <a:ext cx="3346069" cy="404286"/>
            </a:xfrm>
            <a:prstGeom prst="roundRect">
              <a:avLst/>
            </a:prstGeom>
            <a:solidFill>
              <a:srgbClr val="007D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rPr>
                <a:t>Intune Plan 1</a:t>
              </a: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1A287531-A907-6BA0-C49C-5B0FED948347}"/>
                </a:ext>
              </a:extLst>
            </p:cNvPr>
            <p:cNvSpPr txBox="1"/>
            <p:nvPr/>
          </p:nvSpPr>
          <p:spPr>
            <a:xfrm>
              <a:off x="1636664" y="2741851"/>
              <a:ext cx="3207735" cy="48263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Segoe UI" panose="020B0502040204020203" pitchFamily="34" charset="0"/>
                </a:rPr>
                <a:t>Included in EMS E3 or  Microsoft 365 E3, ME5, F1, F3, and Business Premium plans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464CBF38-0751-B773-21D4-2B74417A7A4A}"/>
                </a:ext>
              </a:extLst>
            </p:cNvPr>
            <p:cNvSpPr txBox="1"/>
            <p:nvPr/>
          </p:nvSpPr>
          <p:spPr>
            <a:xfrm>
              <a:off x="1636664" y="3324581"/>
              <a:ext cx="2813389" cy="190456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Cross-platform endpoint management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Endpoint security built in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Endpoint analytics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App protection policies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Shared device management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Device compliance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Risk and app based conditional access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Proactive remediation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Integrated Microsoft 365 and security </a:t>
              </a:r>
            </a:p>
          </p:txBody>
        </p:sp>
        <p:sp>
          <p:nvSpPr>
            <p:cNvPr id="9" name="Round Same Side Corner Rectangle 44">
              <a:extLst>
                <a:ext uri="{FF2B5EF4-FFF2-40B4-BE49-F238E27FC236}">
                  <a16:creationId xmlns:a16="http://schemas.microsoft.com/office/drawing/2014/main" id="{31BBF910-272E-1A39-1206-2D0B92CA4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6694998" y="1215988"/>
              <a:ext cx="4349361" cy="5301726"/>
            </a:xfrm>
            <a:prstGeom prst="round2SameRect">
              <a:avLst>
                <a:gd name="adj1" fmla="val 7886"/>
                <a:gd name="adj2" fmla="val 904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0" name="Straight Connector 16">
              <a:extLst>
                <a:ext uri="{FF2B5EF4-FFF2-40B4-BE49-F238E27FC236}">
                  <a16:creationId xmlns:a16="http://schemas.microsoft.com/office/drawing/2014/main" id="{4A6633DF-07E5-35D8-A94C-E779E2AD2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7183600" y="1769447"/>
              <a:ext cx="3346066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 Single Corner Rectangle 26">
              <a:extLst>
                <a:ext uri="{FF2B5EF4-FFF2-40B4-BE49-F238E27FC236}">
                  <a16:creationId xmlns:a16="http://schemas.microsoft.com/office/drawing/2014/main" id="{6554F03B-6B86-6CD0-77D5-6E9FE7424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7183593" y="1004282"/>
              <a:ext cx="3346069" cy="338680"/>
            </a:xfrm>
            <a:prstGeom prst="roundRect">
              <a:avLst/>
            </a:prstGeom>
            <a:solidFill>
              <a:srgbClr val="007D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rPr>
                <a:t>Intune Suite</a:t>
              </a:r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C194EAA0-FCEC-A053-D382-326A19E9BB4B}"/>
                </a:ext>
              </a:extLst>
            </p:cNvPr>
            <p:cNvSpPr txBox="1"/>
            <p:nvPr/>
          </p:nvSpPr>
          <p:spPr>
            <a:xfrm>
              <a:off x="7282814" y="1479588"/>
              <a:ext cx="3207735" cy="27950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Add to Plan 1 to utilize these solutions*</a:t>
              </a:r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6F11C37F-4922-C901-156D-664B0CBD5AF9}"/>
                </a:ext>
              </a:extLst>
            </p:cNvPr>
            <p:cNvSpPr txBox="1"/>
            <p:nvPr/>
          </p:nvSpPr>
          <p:spPr>
            <a:xfrm>
              <a:off x="7282814" y="1842653"/>
              <a:ext cx="2813389" cy="1886094"/>
            </a:xfrm>
            <a:prstGeom prst="rect">
              <a:avLst/>
            </a:prstGeom>
            <a:noFill/>
          </p:spPr>
          <p:txBody>
            <a:bodyPr wrap="square" lIns="0" tIns="45720" rIns="0" bIns="45720" rtlCol="0" anchor="t">
              <a:spAutoFit/>
            </a:bodyPr>
            <a:lstStyle/>
            <a:p>
              <a:pPr marL="182245" indent="-171450">
                <a:lnSpc>
                  <a:spcPct val="11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Remote Help </a:t>
              </a:r>
            </a:p>
            <a:p>
              <a:pPr marL="182245" indent="-171450">
                <a:lnSpc>
                  <a:spcPct val="11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Endpoint Privilege Management </a:t>
              </a:r>
            </a:p>
            <a:p>
              <a:pPr marL="182245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Advanced Analytics</a:t>
              </a:r>
            </a:p>
            <a:p>
              <a:pPr marL="182245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Enterprise Application Management</a:t>
              </a:r>
            </a:p>
            <a:p>
              <a:pPr marL="182245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Cloud PKI</a:t>
              </a:r>
            </a:p>
            <a:p>
              <a:pPr marL="182245" indent="-171450">
                <a:lnSpc>
                  <a:spcPct val="11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1200" b="1" dirty="0">
                  <a:solidFill>
                    <a:srgbClr val="007DFF"/>
                  </a:solidFill>
                  <a:latin typeface="+mj-lt"/>
                  <a:cs typeface="Segoe UI" panose="020B0502040204020203" pitchFamily="34" charset="0"/>
                </a:rPr>
                <a:t>All Intune Plan 2 features </a:t>
              </a:r>
            </a:p>
            <a:p>
              <a:pPr marL="182245" indent="-171450">
                <a:buFont typeface="Arial" panose="020B0604020202020204" pitchFamily="34" charset="0"/>
                <a:buChar char="•"/>
                <a:defRPr/>
              </a:pPr>
              <a:endParaRPr lang="en-US" sz="1200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endParaRPr>
            </a:p>
            <a:p>
              <a:pPr marL="10795" marR="0" lvl="1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007DFF"/>
                  </a:solidFill>
                  <a:latin typeface="+mj-lt"/>
                  <a:cs typeface="Segoe UI" panose="020B0502040204020203" pitchFamily="34" charset="0"/>
                </a:rPr>
                <a:t>Prerequisite</a:t>
              </a:r>
            </a:p>
            <a:p>
              <a:pPr marL="182245" marR="0" lvl="1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Intune Plan 1</a:t>
              </a:r>
            </a:p>
          </p:txBody>
        </p:sp>
        <p:sp>
          <p:nvSpPr>
            <p:cNvPr id="14" name="Round Same Side Corner Rectangle 44">
              <a:extLst>
                <a:ext uri="{FF2B5EF4-FFF2-40B4-BE49-F238E27FC236}">
                  <a16:creationId xmlns:a16="http://schemas.microsoft.com/office/drawing/2014/main" id="{CE3C70A2-D42C-94BC-89C6-DB0103E66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6925855" y="4007527"/>
              <a:ext cx="3843414" cy="2267323"/>
            </a:xfrm>
            <a:prstGeom prst="round2SameRect">
              <a:avLst>
                <a:gd name="adj1" fmla="val 7886"/>
                <a:gd name="adj2" fmla="val 904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5" name="Straight Connector 21">
              <a:extLst>
                <a:ext uri="{FF2B5EF4-FFF2-40B4-BE49-F238E27FC236}">
                  <a16:creationId xmlns:a16="http://schemas.microsoft.com/office/drawing/2014/main" id="{A1208091-561D-BBA5-9F90-8C2271325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7183600" y="4575554"/>
              <a:ext cx="3346066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 Single Corner Rectangle 26">
              <a:extLst>
                <a:ext uri="{FF2B5EF4-FFF2-40B4-BE49-F238E27FC236}">
                  <a16:creationId xmlns:a16="http://schemas.microsoft.com/office/drawing/2014/main" id="{71FFA721-E46F-4C08-FB6A-CB218EC4E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7183593" y="3842619"/>
              <a:ext cx="3346069" cy="372548"/>
            </a:xfrm>
            <a:prstGeom prst="roundRect">
              <a:avLst/>
            </a:prstGeom>
            <a:solidFill>
              <a:srgbClr val="007D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FFFFFF"/>
                  </a:solidFill>
                  <a:latin typeface="+mj-lt"/>
                  <a:ea typeface="Segoe UI" pitchFamily="34" charset="0"/>
                  <a:cs typeface="Segoe UI" pitchFamily="34" charset="0"/>
                </a:rPr>
                <a:t>Intune Plan 2</a:t>
              </a:r>
            </a:p>
          </p:txBody>
        </p:sp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4C6E96C-7A53-019A-305F-91F297D582EF}"/>
                </a:ext>
              </a:extLst>
            </p:cNvPr>
            <p:cNvSpPr txBox="1"/>
            <p:nvPr/>
          </p:nvSpPr>
          <p:spPr>
            <a:xfrm>
              <a:off x="7282814" y="4320884"/>
              <a:ext cx="3207735" cy="30745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Add to Plan 1 to utilize these features</a:t>
              </a:r>
            </a:p>
          </p:txBody>
        </p:sp>
        <p:sp>
          <p:nvSpPr>
            <p:cNvPr id="18" name="TextBox 23">
              <a:extLst>
                <a:ext uri="{FF2B5EF4-FFF2-40B4-BE49-F238E27FC236}">
                  <a16:creationId xmlns:a16="http://schemas.microsoft.com/office/drawing/2014/main" id="{FD9E04A5-CE02-5867-DD4A-DCDDA9291B76}"/>
                </a:ext>
              </a:extLst>
            </p:cNvPr>
            <p:cNvSpPr txBox="1"/>
            <p:nvPr/>
          </p:nvSpPr>
          <p:spPr>
            <a:xfrm>
              <a:off x="7282814" y="4624930"/>
              <a:ext cx="2813389" cy="147982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Tunnel for Mobile App Management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Mobile firmware update management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Specialty device management</a:t>
              </a:r>
            </a:p>
            <a:p>
              <a:pPr marL="182563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Multiple managed accounts (future)</a:t>
              </a:r>
            </a:p>
            <a:p>
              <a:pPr marL="182563" indent="-171450">
                <a:buFont typeface="Arial" panose="020B0604020202020204" pitchFamily="34" charset="0"/>
                <a:buChar char="•"/>
                <a:defRPr/>
              </a:pPr>
              <a:endParaRPr lang="en-US" sz="1200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endParaRPr>
            </a:p>
            <a:p>
              <a:pPr marL="11113" marR="0" lvl="1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007DFF"/>
                  </a:solidFill>
                  <a:latin typeface="+mj-lt"/>
                  <a:cs typeface="Segoe UI" panose="020B0502040204020203" pitchFamily="34" charset="0"/>
                </a:rPr>
                <a:t>Prerequisite</a:t>
              </a:r>
            </a:p>
            <a:p>
              <a:pPr marL="182563" marR="0" lvl="1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+mj-lt"/>
                  <a:cs typeface="Segoe UI" panose="020B0502040204020203" pitchFamily="34" charset="0"/>
                </a:rPr>
                <a:t>Intune Plan 1</a:t>
              </a:r>
            </a:p>
          </p:txBody>
        </p:sp>
        <p:pic>
          <p:nvPicPr>
            <p:cNvPr id="22" name="Picture 28">
              <a:extLst>
                <a:ext uri="{FF2B5EF4-FFF2-40B4-BE49-F238E27FC236}">
                  <a16:creationId xmlns:a16="http://schemas.microsoft.com/office/drawing/2014/main" id="{2A236F05-69C4-7774-633D-84FB264C29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33146" y="3543007"/>
              <a:ext cx="558800" cy="558800"/>
            </a:xfrm>
            <a:prstGeom prst="rect">
              <a:avLst/>
            </a:prstGeom>
          </p:spPr>
        </p:pic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1C22C38E-9827-1F1B-55DA-1FFACD9C84B2}"/>
                </a:ext>
              </a:extLst>
            </p:cNvPr>
            <p:cNvSpPr/>
            <p:nvPr/>
          </p:nvSpPr>
          <p:spPr>
            <a:xfrm>
              <a:off x="7221029" y="2071737"/>
              <a:ext cx="2254591" cy="2241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3100782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360"/>
    </mc:Choice>
    <mc:Fallback>
      <p:transition spd="slow" advTm="9636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60B31A0-40BE-4836-D8D8-A6AEBAE7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What is the problem?</a:t>
            </a:r>
            <a:endParaRPr lang="LID4096" dirty="0"/>
          </a:p>
        </p:txBody>
      </p:sp>
      <p:sp>
        <p:nvSpPr>
          <p:cNvPr id="2055" name="Content Placeholder 2">
            <a:extLst>
              <a:ext uri="{FF2B5EF4-FFF2-40B4-BE49-F238E27FC236}">
                <a16:creationId xmlns:a16="http://schemas.microsoft.com/office/drawing/2014/main" id="{44234104-1608-A9E8-BED7-F19562920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Running as a standard user reduces the attack surface…</a:t>
            </a:r>
          </a:p>
          <a:p>
            <a:pPr lvl="1"/>
            <a:r>
              <a:rPr lang="en-US" sz="2000" dirty="0"/>
              <a:t>Zero Trust Framework</a:t>
            </a:r>
          </a:p>
          <a:p>
            <a:pPr lvl="2"/>
            <a:r>
              <a:rPr lang="en-US" sz="1600" dirty="0"/>
              <a:t>Least Privilege Access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Impact on user productivity…</a:t>
            </a:r>
            <a:endParaRPr lang="en-US" sz="2000" b="1" dirty="0"/>
          </a:p>
          <a:p>
            <a:pPr lvl="1"/>
            <a:r>
              <a:rPr lang="en-US" sz="2000" dirty="0"/>
              <a:t>Standard users can’t do everything</a:t>
            </a:r>
          </a:p>
        </p:txBody>
      </p:sp>
      <p:pic>
        <p:nvPicPr>
          <p:cNvPr id="2050" name="Picture 2" descr="in the style of wpninjasuk, create an image depicting the humorous concept of taking candy">
            <a:extLst>
              <a:ext uri="{FF2B5EF4-FFF2-40B4-BE49-F238E27FC236}">
                <a16:creationId xmlns:a16="http://schemas.microsoft.com/office/drawing/2014/main" id="{439661BF-DEC1-2E8E-88AA-2290B4FB8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F8091C2-F6D7-4100-5399-E9DFDC649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F621982-67CF-4DE6-9B69-E7E59DF16CFA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4416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617"/>
    </mc:Choice>
    <mc:Fallback>
      <p:transition spd="slow" advTm="756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A91A-C469-B1D6-38E3-E3292B5C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63E7DE-A056-4A11-2413-71EDD530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How does it work?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491F786-6ACE-8128-927D-131EC6F29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/>
          <a:lstStyle/>
          <a:p>
            <a:fld id="{9F621982-67CF-4DE6-9B69-E7E59DF16CFA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81E289F-C2E5-6996-1933-721E0866AD41}"/>
              </a:ext>
            </a:extLst>
          </p:cNvPr>
          <p:cNvSpPr txBox="1"/>
          <p:nvPr/>
        </p:nvSpPr>
        <p:spPr>
          <a:xfrm>
            <a:off x="838200" y="6256893"/>
            <a:ext cx="105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Ooms, R. (2023, May 31). The Virtual Account that rocks the EPM! Call4Cloud from https://call4cloud.nl/virtual-account-epm-elevation/</a:t>
            </a:r>
            <a:endParaRPr lang="LID4096" sz="1200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4C6BD60-2187-F8CD-5D39-4E87D43F7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Afbeelding 5" descr="Afbeelding met tekst, diagram, schermopname, Parallel&#10;&#10;Door AI gegenereerde inhoud is mogelijk onjuist.">
            <a:extLst>
              <a:ext uri="{FF2B5EF4-FFF2-40B4-BE49-F238E27FC236}">
                <a16:creationId xmlns:a16="http://schemas.microsoft.com/office/drawing/2014/main" id="{32175E24-4B92-407A-ED08-62B9B42A4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79"/>
          <a:stretch/>
        </p:blipFill>
        <p:spPr>
          <a:xfrm>
            <a:off x="838201" y="1825626"/>
            <a:ext cx="10515599" cy="433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81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956"/>
    </mc:Choice>
    <mc:Fallback>
      <p:transition spd="slow" advTm="2295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9C4A21-9C64-2B3F-1B88-6A622E70C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How does it work?</a:t>
            </a:r>
            <a:endParaRPr lang="LID4096" dirty="0"/>
          </a:p>
        </p:txBody>
      </p:sp>
      <p:pic>
        <p:nvPicPr>
          <p:cNvPr id="9" name="Tijdelijke aanduiding voor inhoud 8" descr="Afbeelding met tekst, schermopname, diagram, cirkel&#10;&#10;Door AI gegenereerde inhoud is mogelijk onjuist.">
            <a:extLst>
              <a:ext uri="{FF2B5EF4-FFF2-40B4-BE49-F238E27FC236}">
                <a16:creationId xmlns:a16="http://schemas.microsoft.com/office/drawing/2014/main" id="{D333AF42-670C-A0D5-9068-15018583A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855" y="1825625"/>
            <a:ext cx="6642290" cy="4351338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2EF4638-AB75-BD15-D224-185F3A5EF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/>
          <a:lstStyle/>
          <a:p>
            <a:fld id="{9F621982-67CF-4DE6-9B69-E7E59DF16CFA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B1F039D-F2F4-1295-C4CD-4A8EF347D83E}"/>
              </a:ext>
            </a:extLst>
          </p:cNvPr>
          <p:cNvSpPr txBox="1"/>
          <p:nvPr/>
        </p:nvSpPr>
        <p:spPr>
          <a:xfrm>
            <a:off x="838200" y="6256893"/>
            <a:ext cx="105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Ooms, R. (2023, May 31). The Virtual Account that rocks the EPM! Call4Cloud from https://call4cloud.nl/virtual-account-epm-elevation/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4178915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1"/>
    </mc:Choice>
    <mc:Fallback>
      <p:transition spd="slow" advTm="37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F9AE9-EDFD-8619-C60B-E885380A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EPM!</a:t>
            </a:r>
            <a:endParaRPr lang="LID4096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5269E50-8733-5FF6-EB57-3682E2F42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 algn="ctr">
              <a:buFont typeface="+mj-lt"/>
              <a:buAutoNum type="arabicPeriod"/>
            </a:pPr>
            <a:r>
              <a:rPr lang="en-US" dirty="0"/>
              <a:t>Get a license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Deploy an “</a:t>
            </a:r>
            <a:r>
              <a:rPr lang="en-US" i="1" dirty="0"/>
              <a:t>elevation settings policy”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Deploy “</a:t>
            </a:r>
            <a:r>
              <a:rPr lang="en-US" i="1" dirty="0"/>
              <a:t>elevation rules policy”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8908FE7-2C99-D282-F2B5-B1047526F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992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3"/>
    </mc:Choice>
    <mc:Fallback>
      <p:transition spd="slow" advTm="79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9277-F7DB-5831-BA4E-0EC228DC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71D0A-8527-B79D-79C3-B60A9127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EPM!</a:t>
            </a:r>
            <a:endParaRPr lang="LID4096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479E47-C896-97FB-1AB7-5808D370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 algn="ctr">
              <a:buFont typeface="+mj-lt"/>
              <a:buAutoNum type="arabicPeriod"/>
            </a:pPr>
            <a:r>
              <a:rPr lang="en-US" strike="sngStrike" dirty="0"/>
              <a:t>Get a license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Deploy an “</a:t>
            </a:r>
            <a:r>
              <a:rPr lang="en-US" i="1" dirty="0"/>
              <a:t>elevation settings policy”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Deploy “</a:t>
            </a:r>
            <a:r>
              <a:rPr lang="en-US" i="1" dirty="0"/>
              <a:t>elevation rules policy”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793AF9E-61F2-6686-B255-632BC6633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26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5"/>
    </mc:Choice>
    <mc:Fallback>
      <p:transition spd="slow" advTm="6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B59641-2906-7AAE-1D21-ABF11A76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an Elevation Settings Policy</a:t>
            </a:r>
            <a:endParaRPr lang="en-B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188647-7126-012A-58FA-6C165BF5D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AFFA60-DB60-390C-78D1-85F62F154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212" y="1456141"/>
            <a:ext cx="7813575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55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"/>
    </mc:Choice>
    <mc:Fallback>
      <p:transition spd="slow" advTm="2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E8E0E1-65B6-756C-BD13-0C599744A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D605FF-20E6-6F36-2244-14B145484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05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5"/>
    </mc:Choice>
    <mc:Fallback>
      <p:transition spd="slow" advTm="27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8EECD-512D-6C65-7749-02EF7FE2E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5EA0F5-11C2-C476-7D75-1DD80D106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38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"/>
    </mc:Choice>
    <mc:Fallback>
      <p:transition spd="slow" advTm="18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C0332A-28CC-48CD-D042-D6DA25F77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3A64B5-574C-8B36-2908-90FF11AF0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9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"/>
    </mc:Choice>
    <mc:Fallback>
      <p:transition spd="slow" advTm="2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E5B02-DA2C-814D-E7B3-F535D0452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6C1513-21FB-3385-EC3E-72AD18DA4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23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5"/>
    </mc:Choice>
    <mc:Fallback>
      <p:transition spd="slow" advTm="60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913C17-1548-99C8-16B5-9C825CF10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5F4667-327B-FB25-975C-EED1996AC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28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2"/>
    </mc:Choice>
    <mc:Fallback>
      <p:transition spd="slow" advTm="37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B88DE4-55A5-CE4C-80DF-B71519F2D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E71036-C5B8-28D1-2E59-A7B75410A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32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9"/>
    </mc:Choice>
    <mc:Fallback>
      <p:transition spd="slow" advTm="19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4EDBE4-CA43-121A-F114-5351E8887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EAA9A3-E010-7B80-00F2-A9730B85E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64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6EB07-53F0-E980-F1FF-CF59B68A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7009C-D183-01C7-DCEB-44170837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EPM!</a:t>
            </a:r>
            <a:endParaRPr lang="LID4096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5376D5A-1E6C-67CA-3571-CBF3FD737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 algn="ctr">
              <a:buFont typeface="+mj-lt"/>
              <a:buAutoNum type="arabicPeriod"/>
            </a:pPr>
            <a:r>
              <a:rPr lang="en-US" strike="sngStrike" dirty="0"/>
              <a:t>Get a license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trike="sngStrike" dirty="0"/>
              <a:t>Deploy an “</a:t>
            </a:r>
            <a:r>
              <a:rPr lang="en-US" i="1" strike="sngStrike" dirty="0"/>
              <a:t>elevation settings policy”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dirty="0"/>
              <a:t>Deploy “</a:t>
            </a:r>
            <a:r>
              <a:rPr lang="en-US" i="1" dirty="0"/>
              <a:t>elevation rules policy”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362FD15-2CDA-69AC-D49C-415E4E041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756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5"/>
    </mc:Choice>
    <mc:Fallback>
      <p:transition spd="slow" advTm="68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DD249C-0F25-FCE0-C70C-499338A4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types of Elevation Rules Policies are there?</a:t>
            </a:r>
            <a:endParaRPr lang="en-BE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0EBED-CC70-FB4E-24D2-8A6C79F17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373200" cy="823912"/>
          </a:xfrm>
        </p:spPr>
        <p:txBody>
          <a:bodyPr>
            <a:normAutofit/>
          </a:bodyPr>
          <a:lstStyle/>
          <a:p>
            <a:r>
              <a:rPr lang="en-US" dirty="0"/>
              <a:t>Automatic Elevation</a:t>
            </a:r>
            <a:endParaRPr lang="en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7A5925-2A36-9B17-0D79-F74896825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373200" cy="3684588"/>
          </a:xfrm>
        </p:spPr>
        <p:txBody>
          <a:bodyPr>
            <a:normAutofit/>
          </a:bodyPr>
          <a:lstStyle/>
          <a:p>
            <a:r>
              <a:rPr lang="en-US" sz="2000" dirty="0"/>
              <a:t>Provides an audit trail</a:t>
            </a:r>
          </a:p>
          <a:p>
            <a:r>
              <a:rPr lang="en-US" sz="2000" dirty="0"/>
              <a:t>Opaque to the end-user</a:t>
            </a:r>
            <a:endParaRPr lang="en-BE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F9146D-134C-8C74-70E6-F31237EC1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79014" y="1681163"/>
            <a:ext cx="3373200" cy="823912"/>
          </a:xfrm>
        </p:spPr>
        <p:txBody>
          <a:bodyPr>
            <a:normAutofit/>
          </a:bodyPr>
          <a:lstStyle/>
          <a:p>
            <a:r>
              <a:rPr lang="en-US" dirty="0"/>
              <a:t>Support Approved Elevation</a:t>
            </a:r>
            <a:endParaRPr lang="en-B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B11C51-C1F0-9971-4046-14A36DC44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79014" y="2505075"/>
            <a:ext cx="3373200" cy="3684588"/>
          </a:xfrm>
        </p:spPr>
        <p:txBody>
          <a:bodyPr>
            <a:normAutofit/>
          </a:bodyPr>
          <a:lstStyle/>
          <a:p>
            <a:r>
              <a:rPr lang="en-US" sz="2000" dirty="0"/>
              <a:t>Provides an audit trail</a:t>
            </a:r>
          </a:p>
          <a:p>
            <a:r>
              <a:rPr lang="en-US" sz="2000" dirty="0"/>
              <a:t>Allows you to add elevation to the “guest list”</a:t>
            </a:r>
          </a:p>
          <a:p>
            <a:r>
              <a:rPr lang="en-US" sz="2000" dirty="0"/>
              <a:t>Confronts the user with a check</a:t>
            </a:r>
            <a:endParaRPr lang="en-BE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55F792-4E7B-8ED9-B6C9-3351C63C3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0B0E019-65FD-FE56-3C4F-1A9C038FCCAC}"/>
              </a:ext>
            </a:extLst>
          </p:cNvPr>
          <p:cNvSpPr txBox="1">
            <a:spLocks/>
          </p:cNvSpPr>
          <p:nvPr/>
        </p:nvSpPr>
        <p:spPr>
          <a:xfrm>
            <a:off x="4409401" y="1681163"/>
            <a:ext cx="3373200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User Confirmed Elevation</a:t>
            </a:r>
            <a:endParaRPr lang="en-BE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85B03BCD-D22F-E2DD-E581-892679062B91}"/>
              </a:ext>
            </a:extLst>
          </p:cNvPr>
          <p:cNvSpPr txBox="1">
            <a:spLocks/>
          </p:cNvSpPr>
          <p:nvPr/>
        </p:nvSpPr>
        <p:spPr>
          <a:xfrm>
            <a:off x="4409401" y="2505075"/>
            <a:ext cx="3373200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Provides an audit trail</a:t>
            </a:r>
          </a:p>
          <a:p>
            <a:r>
              <a:rPr lang="en-US" sz="2000" dirty="0"/>
              <a:t>Offers additional controls</a:t>
            </a:r>
          </a:p>
          <a:p>
            <a:r>
              <a:rPr lang="en-US" sz="2000" dirty="0"/>
              <a:t>Create a “guest list” of what can be elevated first</a:t>
            </a:r>
          </a:p>
          <a:p>
            <a:r>
              <a:rPr lang="en-US" sz="2000" dirty="0"/>
              <a:t>Confronts the user with a check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1769502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35C0D-4F3B-E1F4-1AA7-6D163E0F4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0014F0-1262-B14D-E7AE-35A13A662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61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5C6F62-99BB-6862-AF5A-8C484611C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EDC2C0-C11B-5F0A-DD79-B29E4A937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77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33298A-3D2A-1AEF-C995-89AA4E710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8FA680-00AA-E1FF-4D82-3922008B0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0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EC2AC-9ABE-65BA-6456-97B0224AF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12B5BA-6627-B357-16C5-41F75DDF9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71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E4BCE-91DC-DD94-F50C-8C2EC5090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5D2EEF-EA3E-EBB1-39F5-FA1B0CCEC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18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D1ED4A-165A-7E3B-8ECF-40C42D471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2C7664-7B64-263E-C283-E6BC21FDF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1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4042B-DD15-1FEA-D745-B60E0BC83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4A8C12-9DE4-04A4-3595-A496B6FBE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90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59A5EA-96AF-6870-CAC1-3691718B4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20E765-34B7-B1C2-2F81-C734DDBE5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33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C90A1D-61E6-8871-646F-6EF8EAF0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end-user experience</a:t>
            </a:r>
            <a:endParaRPr lang="en-BE" dirty="0"/>
          </a:p>
        </p:txBody>
      </p:sp>
      <p:pic>
        <p:nvPicPr>
          <p:cNvPr id="9" name="Picture 2" descr="in the style of wpninjasuk, create an image depicting the humorous concept of taking candy">
            <a:extLst>
              <a:ext uri="{FF2B5EF4-FFF2-40B4-BE49-F238E27FC236}">
                <a16:creationId xmlns:a16="http://schemas.microsoft.com/office/drawing/2014/main" id="{9CDC4FAF-FE1C-4AA0-419B-C46B0132A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20DAAD-DD48-17B0-93CB-9BFE38B50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F621982-67CF-4DE6-9B69-E7E59DF16CFA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28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031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46"/>
    </mc:Choice>
    <mc:Fallback>
      <p:transition spd="slow" advTm="14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F9037-B3AE-4F5D-CE61-946ED6AF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0D126-D3C3-79D9-17C9-584E4BA6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types of Elevation Rules Policies are there?</a:t>
            </a:r>
            <a:endParaRPr lang="en-BE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880B4-D910-9CA9-C261-1F2D24607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Automatic Elevation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an audit trail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Opaque to the end-user</a:t>
            </a:r>
            <a:endParaRPr lang="en-BE" dirty="0"/>
          </a:p>
          <a:p>
            <a:endParaRPr lang="en-B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96468D-2136-EDD2-FB7E-A0440C498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14" name="Picture Placeholder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C6DE6FF-340F-7164-F897-9201D578B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807" b="-9807"/>
          <a:stretch/>
        </p:blipFill>
        <p:spPr>
          <a:xfrm>
            <a:off x="5183188" y="987426"/>
            <a:ext cx="6172200" cy="4873623"/>
          </a:xfrm>
        </p:spPr>
      </p:pic>
    </p:spTree>
    <p:extLst>
      <p:ext uri="{BB962C8B-B14F-4D97-AF65-F5344CB8AC3E}">
        <p14:creationId xmlns:p14="http://schemas.microsoft.com/office/powerpoint/2010/main" val="142530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605"/>
    </mc:Choice>
    <mc:Fallback>
      <p:transition spd="slow" advTm="4960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E886B-5AD7-0580-7F8B-103ECCAA2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8BF331-B103-26BA-CED3-E08758841A6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80" y="279000"/>
            <a:ext cx="10611041" cy="6300000"/>
          </a:xfrm>
        </p:spPr>
      </p:pic>
    </p:spTree>
    <p:extLst>
      <p:ext uri="{BB962C8B-B14F-4D97-AF65-F5344CB8AC3E}">
        <p14:creationId xmlns:p14="http://schemas.microsoft.com/office/powerpoint/2010/main" val="2889495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884"/>
    </mc:Choice>
    <mc:Fallback>
      <p:transition spd="slow" advTm="14884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5B94-FDDC-CE44-C90C-84F2DFD9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1067B7-32ED-080E-ABC0-1D5BF956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types of Elevation Rules Policies are there?</a:t>
            </a:r>
            <a:endParaRPr lang="en-BE" sz="320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FD3D9F2-EDD4-971E-0063-A260492CE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800" dirty="0"/>
              <a:t>User Confirmed Elevation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an audit trail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Offers additional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“guest list” of what can be elevated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Confronts the user with a check</a:t>
            </a:r>
            <a:endParaRPr lang="en-BE" dirty="0"/>
          </a:p>
          <a:p>
            <a:endParaRPr lang="en-BE" dirty="0"/>
          </a:p>
          <a:p>
            <a:endParaRPr lang="en-B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3C2699-8652-EA64-EE33-A8E91BDDA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7F767AB-D0A4-2C62-062E-3F47BD884A15}"/>
              </a:ext>
            </a:extLst>
          </p:cNvPr>
          <p:cNvSpPr txBox="1">
            <a:spLocks/>
          </p:cNvSpPr>
          <p:nvPr/>
        </p:nvSpPr>
        <p:spPr>
          <a:xfrm>
            <a:off x="4409401" y="1681163"/>
            <a:ext cx="3373200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BE" dirty="0"/>
          </a:p>
        </p:txBody>
      </p:sp>
      <p:pic>
        <p:nvPicPr>
          <p:cNvPr id="20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09D07DED-7D21-6B22-73B8-0DD18ED5D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482" b="-29482"/>
          <a:stretch/>
        </p:blipFill>
        <p:spPr>
          <a:xfrm>
            <a:off x="5183188" y="987446"/>
            <a:ext cx="6172200" cy="487358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1563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605"/>
    </mc:Choice>
    <mc:Fallback>
      <p:transition spd="slow" advTm="31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BAB25-3399-43CB-D2B4-2E027C52F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32</a:t>
            </a:fld>
            <a:endParaRPr lang="en-GB"/>
          </a:p>
        </p:txBody>
      </p:sp>
      <p:pic>
        <p:nvPicPr>
          <p:cNvPr id="4" name="Picture 3" descr="A computer screen shot of a blue swirly object&#10;&#10;AI-generated content may be incorrect.">
            <a:extLst>
              <a:ext uri="{FF2B5EF4-FFF2-40B4-BE49-F238E27FC236}">
                <a16:creationId xmlns:a16="http://schemas.microsoft.com/office/drawing/2014/main" id="{6CDA8DCC-9B7D-2D4A-211D-12718DFB6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37" y="279000"/>
            <a:ext cx="10610527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25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023"/>
    </mc:Choice>
    <mc:Fallback>
      <p:transition spd="slow" advTm="26023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DD249C-0F25-FCE0-C70C-499338A4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types of Elevation Rules Policies are there?</a:t>
            </a:r>
            <a:endParaRPr lang="en-BE" sz="3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B11C51-C1F0-9971-4046-14A36DC44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BE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F9146D-134C-8C74-70E6-F31237EC1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Support Approved Elevation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an audit trail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you to add elevation to the “guest list”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Confronts the user with a check</a:t>
            </a:r>
            <a:endParaRPr lang="en-BE" dirty="0"/>
          </a:p>
          <a:p>
            <a:endParaRPr lang="en-B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55F792-4E7B-8ED9-B6C9-3351C63C3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33</a:t>
            </a:fld>
            <a:endParaRPr lang="en-GB"/>
          </a:p>
        </p:txBody>
      </p:sp>
      <p:pic>
        <p:nvPicPr>
          <p:cNvPr id="14" name="Picture Placeholder 5" descr="A white rectangular box with purple text&#10;&#10;Description automatically generated">
            <a:extLst>
              <a:ext uri="{FF2B5EF4-FFF2-40B4-BE49-F238E27FC236}">
                <a16:creationId xmlns:a16="http://schemas.microsoft.com/office/drawing/2014/main" id="{19CC2467-D438-02AF-1F15-9B70E39FA4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8702" b="-218702"/>
          <a:stretch/>
        </p:blipFill>
        <p:spPr>
          <a:xfrm>
            <a:off x="5335588" y="1139825"/>
            <a:ext cx="6172200" cy="4873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316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58"/>
    </mc:Choice>
    <mc:Fallback>
      <p:transition spd="slow" advTm="12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623E04-2542-048E-BC5E-A94A2CB57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34</a:t>
            </a:fld>
            <a:endParaRPr lang="en-GB"/>
          </a:p>
        </p:txBody>
      </p:sp>
      <p:pic>
        <p:nvPicPr>
          <p:cNvPr id="4" name="Picture 3" descr="A computer screen shot of a blue flower&#10;&#10;AI-generated content may be incorrect.">
            <a:extLst>
              <a:ext uri="{FF2B5EF4-FFF2-40B4-BE49-F238E27FC236}">
                <a16:creationId xmlns:a16="http://schemas.microsoft.com/office/drawing/2014/main" id="{5F4ED7BA-775C-087F-26B2-76947E148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37" y="279000"/>
            <a:ext cx="10610527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74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164"/>
    </mc:Choice>
    <mc:Fallback>
      <p:transition spd="slow" advTm="33164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9F05B9-6CCC-BBAF-D9A2-028BC2A4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Managing the guest list – Elevation Requests</a:t>
            </a:r>
            <a:endParaRPr lang="en-BE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6D0C47-4100-44D2-CBF1-F26CE7964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30"/>
          <a:stretch>
            <a:fillRect/>
          </a:stretch>
        </p:blipFill>
        <p:spPr>
          <a:xfrm>
            <a:off x="838200" y="1825625"/>
            <a:ext cx="10515600" cy="3769059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A7A82F-FBCE-8327-A9E5-34013E03B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F621982-67CF-4DE6-9B69-E7E59DF16CFA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352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666B63-B15D-DADC-05FF-BA4E29933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36</a:t>
            </a:fld>
            <a:endParaRPr lang="en-GB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E8721B-E763-BD78-601C-29DBAA1C0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648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2182-21B0-C15D-CEBD-BA88DEA5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E14B21-8068-9ACB-5804-6113A84D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EPM!</a:t>
            </a:r>
            <a:endParaRPr lang="LID4096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247A64-60F4-DF78-F980-74415F6E4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 algn="ctr">
              <a:buFont typeface="+mj-lt"/>
              <a:buAutoNum type="arabicPeriod"/>
            </a:pPr>
            <a:r>
              <a:rPr lang="en-US" strike="sngStrike" dirty="0"/>
              <a:t>Get a license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trike="sngStrike" dirty="0"/>
              <a:t>Deploy an “</a:t>
            </a:r>
            <a:r>
              <a:rPr lang="en-US" i="1" strike="sngStrike" dirty="0"/>
              <a:t>elevation settings policy”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trike="sngStrike" dirty="0"/>
              <a:t>Deploy “</a:t>
            </a:r>
            <a:r>
              <a:rPr lang="en-US" i="1" strike="sngStrike" dirty="0"/>
              <a:t>elevation rules policy”</a:t>
            </a:r>
            <a:endParaRPr lang="LID4096" strike="sngStrik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CBD5690-A25A-F517-CA8F-F55033C4D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AA298-AFE2-8374-4768-A1B660A56261}"/>
              </a:ext>
            </a:extLst>
          </p:cNvPr>
          <p:cNvSpPr txBox="1"/>
          <p:nvPr/>
        </p:nvSpPr>
        <p:spPr>
          <a:xfrm rot="20700000">
            <a:off x="6444639" y="4815658"/>
            <a:ext cx="54848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But wait! There’s more!</a:t>
            </a:r>
          </a:p>
          <a:p>
            <a:pPr algn="ctr"/>
            <a:r>
              <a:rPr lang="en-US" sz="3200" dirty="0"/>
              <a:t>Reusable Settings &amp; Reports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358162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5"/>
    </mc:Choice>
    <mc:Fallback>
      <p:transition spd="slow" advTm="6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6A516D-2E54-3D57-81A6-CEC719DA8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Keeping it manageable – Reusable Settings</a:t>
            </a:r>
            <a:endParaRPr lang="en-BE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E3415E-15C5-1832-0811-5A2F8909B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54"/>
          <a:stretch>
            <a:fillRect/>
          </a:stretch>
        </p:blipFill>
        <p:spPr>
          <a:xfrm>
            <a:off x="838200" y="1825625"/>
            <a:ext cx="10515600" cy="3835233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06BB67-35A9-B58F-2264-17E9C90E0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F621982-67CF-4DE6-9B69-E7E59DF16CFA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398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C7D727-39C1-5D19-D651-D4E2E1139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39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3AE2BC-417C-2B5B-F60C-CA4D0823F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443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79D9E2-E290-C7E4-652D-9C662611A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40</a:t>
            </a:fld>
            <a:endParaRPr lang="en-GB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0AA251-1E85-C1DF-F201-105F271B8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2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70549-1F78-C1A5-7277-15F139DBF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41</a:t>
            </a:fld>
            <a:endParaRPr lang="en-GB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71A1AE-D655-3D80-2E83-AAF05251F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315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192E08-EF42-04FB-240A-74F2CD3A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Don’t reinvent the wheel - Reports</a:t>
            </a:r>
            <a:endParaRPr lang="en-BE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D74EDB-B50E-4337-E42D-5C1A1D660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67"/>
          <a:stretch>
            <a:fillRect/>
          </a:stretch>
        </p:blipFill>
        <p:spPr>
          <a:xfrm>
            <a:off x="838200" y="1825625"/>
            <a:ext cx="10515600" cy="3895391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FAC59-806A-BDB6-C8E7-9766C836F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F621982-67CF-4DE6-9B69-E7E59DF16CFA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8206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7D5EFC-AEE0-E490-94F1-0201C9DE6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43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5A518C-6651-0DFD-F90B-4D6D8021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FE270C-64E8-29A7-C8C2-D7743ABCE013}"/>
              </a:ext>
            </a:extLst>
          </p:cNvPr>
          <p:cNvSpPr/>
          <p:nvPr/>
        </p:nvSpPr>
        <p:spPr>
          <a:xfrm>
            <a:off x="3678148" y="2044557"/>
            <a:ext cx="1114746" cy="463364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085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F68FCA-2538-8564-421D-A1C044C2F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44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969BA4-CD0D-A91E-D173-FC855E782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F2DAC3-AE1A-523F-B067-39DFB66B34A8}"/>
              </a:ext>
            </a:extLst>
          </p:cNvPr>
          <p:cNvSpPr/>
          <p:nvPr/>
        </p:nvSpPr>
        <p:spPr>
          <a:xfrm>
            <a:off x="8147407" y="1001730"/>
            <a:ext cx="2794571" cy="478775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BD97A-9A7A-08F4-53E7-5B089E0DE59C}"/>
              </a:ext>
            </a:extLst>
          </p:cNvPr>
          <p:cNvSpPr/>
          <p:nvPr/>
        </p:nvSpPr>
        <p:spPr>
          <a:xfrm>
            <a:off x="8147406" y="1268858"/>
            <a:ext cx="1299681" cy="22089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863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E979C7-E851-8ADA-9E72-DABE9F0E7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45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9C9DB7-D19D-1BA4-3598-EE84917DC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B5C8C4-4C2A-2940-6A86-5BAC811FE042}"/>
              </a:ext>
            </a:extLst>
          </p:cNvPr>
          <p:cNvSpPr/>
          <p:nvPr/>
        </p:nvSpPr>
        <p:spPr>
          <a:xfrm>
            <a:off x="8137133" y="1309955"/>
            <a:ext cx="2842347" cy="154626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63887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F96153-B599-EB3C-008E-49D7FB6D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Harvesting Certificates – </a:t>
            </a:r>
            <a:r>
              <a:rPr lang="en-US" dirty="0" err="1"/>
              <a:t>EpmTools</a:t>
            </a:r>
            <a:r>
              <a:rPr lang="en-US" dirty="0"/>
              <a:t> PowerShell module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CEE807-7D6E-4F9F-C7CE-665623925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F621982-67CF-4DE6-9B69-E7E59DF16CFA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46</a:t>
            </a:fld>
            <a:endParaRPr lang="en-GB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46B17C0-70C1-940A-A1B0-90E42240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00" y="2169456"/>
            <a:ext cx="9720000" cy="251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245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F06B-45CB-7116-96A6-76962BF5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A77900-9097-6B7C-AC4F-89282131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EpmTools</a:t>
            </a:r>
            <a:r>
              <a:rPr lang="en-US" dirty="0"/>
              <a:t> PowerShell module</a:t>
            </a:r>
            <a:endParaRPr lang="LID4096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A56E88-D6C8-1F1C-2482-11F378DB5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F621982-67CF-4DE6-9B69-E7E59DF16CFA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47</a:t>
            </a:fld>
            <a:endParaRPr lang="en-GB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C142A63-446B-5690-C056-88B035F3D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00" y="1402182"/>
            <a:ext cx="9720000" cy="40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008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31EEF-1BD3-BD18-FD06-4062E86CE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48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77081B-6E7E-C32F-8030-6E21DA3FD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00" y="448200"/>
            <a:ext cx="9720000" cy="59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038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DF9BD5-6C10-21FA-729C-CBB8C2D0E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49</a:t>
            </a:fld>
            <a:endParaRPr lang="en-GB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E97E50-C517-F6E4-D626-D188D4927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590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0ECA7D-1D51-CD50-A662-15BB33F81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50</a:t>
            </a:fld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3CAACF-C723-F6F1-AE74-9A391A79C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20" y="279000"/>
            <a:ext cx="9766960" cy="6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069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C80E6-3DA5-8150-5448-CBF94E87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Deployment considerations for Endpoint Privilege Management</a:t>
            </a:r>
            <a:endParaRPr lang="LID4096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740507-281F-1E37-2FF9-09EF3BCD6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036" y="1825625"/>
            <a:ext cx="6745927" cy="4351338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1834F5-F135-B174-A032-4FA2E4145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51</a:t>
            </a:fld>
            <a:endParaRPr lang="en-GB" dirty="0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52CEED59-28B0-05E5-107C-AD466EEE5EBA}"/>
              </a:ext>
            </a:extLst>
          </p:cNvPr>
          <p:cNvCxnSpPr/>
          <p:nvPr/>
        </p:nvCxnSpPr>
        <p:spPr>
          <a:xfrm>
            <a:off x="838200" y="552893"/>
            <a:ext cx="9018181" cy="935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F5F36BF7-45F0-27C5-3F54-E4E3B6D9CE6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What can go wrong…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8175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EB70-E84A-AB84-17AD-49385888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go wrong…</a:t>
            </a:r>
            <a:endParaRPr lang="en-BE" dirty="0"/>
          </a:p>
        </p:txBody>
      </p:sp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B15EAD3-B392-C103-9805-CF6E21246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80239"/>
            <a:ext cx="10515600" cy="264211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CCFFA-7C2E-2A56-4806-AB92D3324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52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473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E550450-2795-2443-BFC1-E0A937068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53</a:t>
            </a:fld>
            <a:endParaRPr lang="en-GB"/>
          </a:p>
        </p:txBody>
      </p:sp>
      <p:pic>
        <p:nvPicPr>
          <p:cNvPr id="3" name="Picture 2" descr="Happy Season 17 GIF by The Simpsons">
            <a:extLst>
              <a:ext uri="{FF2B5EF4-FFF2-40B4-BE49-F238E27FC236}">
                <a16:creationId xmlns:a16="http://schemas.microsoft.com/office/drawing/2014/main" id="{4DCF8C66-7A09-6CF3-CF04-2AC6BDC4A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1136" y="1253331"/>
            <a:ext cx="5769729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5391692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5ADBE-9DE4-ECD2-4307-7576EAB3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794D90B-F908-C1A9-1749-F358A1D93BED}"/>
              </a:ext>
            </a:extLst>
          </p:cNvPr>
          <p:cNvSpPr>
            <a:spLocks/>
          </p:cNvSpPr>
          <p:nvPr/>
        </p:nvSpPr>
        <p:spPr>
          <a:xfrm>
            <a:off x="66675" y="1896387"/>
            <a:ext cx="12058650" cy="220666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492F1C-4165-0497-000C-A7A67F614987}"/>
              </a:ext>
            </a:extLst>
          </p:cNvPr>
          <p:cNvSpPr/>
          <p:nvPr/>
        </p:nvSpPr>
        <p:spPr>
          <a:xfrm>
            <a:off x="66675" y="5822589"/>
            <a:ext cx="4431906" cy="100893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71DED3-F494-4094-D4C4-03FFEFF13345}"/>
              </a:ext>
            </a:extLst>
          </p:cNvPr>
          <p:cNvSpPr/>
          <p:nvPr/>
        </p:nvSpPr>
        <p:spPr>
          <a:xfrm>
            <a:off x="66675" y="4199802"/>
            <a:ext cx="12058650" cy="1508504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C0C0C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4EE729-ABF4-0FE0-9A6D-102E16C040BC}"/>
              </a:ext>
            </a:extLst>
          </p:cNvPr>
          <p:cNvSpPr/>
          <p:nvPr/>
        </p:nvSpPr>
        <p:spPr>
          <a:xfrm>
            <a:off x="66675" y="64576"/>
            <a:ext cx="12058650" cy="1726017"/>
          </a:xfrm>
          <a:prstGeom prst="rect">
            <a:avLst/>
          </a:prstGeom>
          <a:noFill/>
          <a:ln w="76200" cap="rnd">
            <a:solidFill>
              <a:schemeClr val="accent4">
                <a:lumMod val="20000"/>
                <a:lumOff val="80000"/>
              </a:schemeClr>
            </a:solidFill>
            <a:prstDash val="solid"/>
            <a:beve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 descr="A black and purple logo&#10;&#10;AI-generated content may be incorrect.">
            <a:extLst>
              <a:ext uri="{FF2B5EF4-FFF2-40B4-BE49-F238E27FC236}">
                <a16:creationId xmlns:a16="http://schemas.microsoft.com/office/drawing/2014/main" id="{7C13DC9F-4EDF-5842-DEBE-505765888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35" y="6094440"/>
            <a:ext cx="1440000" cy="465231"/>
          </a:xfrm>
          <a:prstGeom prst="rect">
            <a:avLst/>
          </a:prstGeom>
        </p:spPr>
      </p:pic>
      <p:pic>
        <p:nvPicPr>
          <p:cNvPr id="5" name="Picture 4" descr="A yellow arrow and a black background&#10;&#10;AI-generated content may be incorrect.">
            <a:extLst>
              <a:ext uri="{FF2B5EF4-FFF2-40B4-BE49-F238E27FC236}">
                <a16:creationId xmlns:a16="http://schemas.microsoft.com/office/drawing/2014/main" id="{BEC28E88-B716-FC55-3950-DBB1DE4AF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125" y="196535"/>
            <a:ext cx="1401267" cy="1385897"/>
          </a:xfrm>
          <a:prstGeom prst="rect">
            <a:avLst/>
          </a:prstGeo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5217BD9-483A-E37A-7346-74FE1055A0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907" y="278729"/>
            <a:ext cx="3399974" cy="1077172"/>
          </a:xfrm>
          <a:prstGeom prst="rect">
            <a:avLst/>
          </a:prstGeom>
        </p:spPr>
      </p:pic>
      <p:pic>
        <p:nvPicPr>
          <p:cNvPr id="13" name="Picture 12" descr="A black and grey logo&#10;&#10;AI-generated content may be incorrect.">
            <a:extLst>
              <a:ext uri="{FF2B5EF4-FFF2-40B4-BE49-F238E27FC236}">
                <a16:creationId xmlns:a16="http://schemas.microsoft.com/office/drawing/2014/main" id="{043F8DEF-0D7C-8319-BC46-6813392305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07" y="2155214"/>
            <a:ext cx="2160000" cy="46068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239930A-2218-90A3-0B0D-66F1148B94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0944" y="2217897"/>
            <a:ext cx="2985056" cy="490876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781BA81E-E167-66D7-E6FB-C52974C929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971" y="2381805"/>
            <a:ext cx="2731500" cy="32655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7FDB60-F06E-40E6-4728-13E57CBFD7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428" y="3255558"/>
            <a:ext cx="1886697" cy="58502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3C50E70-C359-61E7-35AF-4D4B1FB239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312" y="3048271"/>
            <a:ext cx="1488523" cy="669768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5F3FF6F-0B28-3895-2E95-159016DEE5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62263" y="4971536"/>
            <a:ext cx="1329844" cy="51430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D229D99-17CD-E19F-A17F-C98434517C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49000" y="4370253"/>
            <a:ext cx="2247000" cy="506366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3CD16AB1-2B8A-84D8-CDB1-344AA54D6A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251841" y="5103036"/>
            <a:ext cx="2657425" cy="40830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A14BC90-FCEA-9021-84FB-49CF4C764EF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65175" y="5095746"/>
            <a:ext cx="1981171" cy="347512"/>
          </a:xfrm>
          <a:prstGeom prst="rect">
            <a:avLst/>
          </a:prstGeom>
        </p:spPr>
      </p:pic>
      <p:pic>
        <p:nvPicPr>
          <p:cNvPr id="30" name="Picture 29" descr="A close up of a logo&#10;&#10;AI-generated content may be incorrect.">
            <a:extLst>
              <a:ext uri="{FF2B5EF4-FFF2-40B4-BE49-F238E27FC236}">
                <a16:creationId xmlns:a16="http://schemas.microsoft.com/office/drawing/2014/main" id="{2888AE37-6217-7F78-A7D7-6AAFC76A481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07" y="6038069"/>
            <a:ext cx="1440000" cy="7059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4207924-1D7A-60FF-9A65-A3E1F335E5A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938" y="2154069"/>
            <a:ext cx="1255815" cy="66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22D5B04-CCFD-2E35-714F-CC7BC38D099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777" y="3329451"/>
            <a:ext cx="2160000" cy="3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9916448-6027-7013-7697-C6E29779644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331" y="3112902"/>
            <a:ext cx="2651549" cy="69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9808CD-7CA2-1CBF-1496-E79A6BBA640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0032" y="4324071"/>
            <a:ext cx="1828933" cy="51430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5C46BD3-FBD8-1B9C-BB58-6EB473CDB24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846199" y="4324071"/>
            <a:ext cx="1179942" cy="6425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D83876-9B4D-C526-3396-1A186EFF46F6}"/>
              </a:ext>
            </a:extLst>
          </p:cNvPr>
          <p:cNvSpPr txBox="1"/>
          <p:nvPr/>
        </p:nvSpPr>
        <p:spPr>
          <a:xfrm>
            <a:off x="8271080" y="5750809"/>
            <a:ext cx="3854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EVENT PARTNERS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EB94E-84BB-2AB4-8F10-8EDB150B3B0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82303" y="6017969"/>
            <a:ext cx="2705899" cy="603759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3363BD2-8DE2-220A-07B3-8A72BF038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957" y="5953753"/>
            <a:ext cx="669768" cy="66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24D85-952B-212F-4492-7DE7153F58E4}"/>
              </a:ext>
            </a:extLst>
          </p:cNvPr>
          <p:cNvSpPr txBox="1"/>
          <p:nvPr/>
        </p:nvSpPr>
        <p:spPr>
          <a:xfrm>
            <a:off x="3648140" y="5832830"/>
            <a:ext cx="910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SPONSORS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E21036-4064-384F-BADB-5B329D41274C}"/>
              </a:ext>
            </a:extLst>
          </p:cNvPr>
          <p:cNvSpPr txBox="1"/>
          <p:nvPr/>
        </p:nvSpPr>
        <p:spPr>
          <a:xfrm>
            <a:off x="11473314" y="4242305"/>
            <a:ext cx="1611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SILVER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4667C-7703-1A55-E14A-D305004D466C}"/>
              </a:ext>
            </a:extLst>
          </p:cNvPr>
          <p:cNvSpPr txBox="1"/>
          <p:nvPr/>
        </p:nvSpPr>
        <p:spPr>
          <a:xfrm>
            <a:off x="11538094" y="1953442"/>
            <a:ext cx="1611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7DEAE7-0057-D48B-3FCF-9FA24E71522F}"/>
              </a:ext>
            </a:extLst>
          </p:cNvPr>
          <p:cNvSpPr txBox="1"/>
          <p:nvPr/>
        </p:nvSpPr>
        <p:spPr>
          <a:xfrm>
            <a:off x="11319410" y="112449"/>
            <a:ext cx="1611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PLATINUM</a:t>
            </a:r>
          </a:p>
        </p:txBody>
      </p:sp>
    </p:spTree>
    <p:extLst>
      <p:ext uri="{BB962C8B-B14F-4D97-AF65-F5344CB8AC3E}">
        <p14:creationId xmlns:p14="http://schemas.microsoft.com/office/powerpoint/2010/main" val="1154592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"/>
</p:tagLst>
</file>

<file path=ppt/theme/theme1.xml><?xml version="1.0" encoding="utf-8"?>
<a:theme xmlns:a="http://schemas.openxmlformats.org/drawingml/2006/main" name="Session Slides">
  <a:themeElements>
    <a:clrScheme name="Custom 1">
      <a:dk1>
        <a:srgbClr val="FFFFFF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onsor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BCAF23DF094D4C98196066D1F95540" ma:contentTypeVersion="12" ma:contentTypeDescription="Create a new document." ma:contentTypeScope="" ma:versionID="e0252dfd77bd2787d630bdf37eab2087">
  <xsd:schema xmlns:xsd="http://www.w3.org/2001/XMLSchema" xmlns:xs="http://www.w3.org/2001/XMLSchema" xmlns:p="http://schemas.microsoft.com/office/2006/metadata/properties" xmlns:ns2="fa91758a-2288-4e2a-b879-1b5dad0e4cfc" xmlns:ns3="04706fbb-3dbe-40c8-acbc-b0268657d405" targetNamespace="http://schemas.microsoft.com/office/2006/metadata/properties" ma:root="true" ma:fieldsID="db8b91ca9683a0f8fbc19c95cb4eed5d" ns2:_="" ns3:_="">
    <xsd:import namespace="fa91758a-2288-4e2a-b879-1b5dad0e4cfc"/>
    <xsd:import namespace="04706fbb-3dbe-40c8-acbc-b0268657d4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1758a-2288-4e2a-b879-1b5dad0e4c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18cd746-5bd1-4ed0-aa24-9a5fb9e8ba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706fbb-3dbe-40c8-acbc-b0268657d4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91ca93e-8df5-461c-ba39-aa968c7b0f19}" ma:internalName="TaxCatchAll" ma:showField="CatchAllData" ma:web="04706fbb-3dbe-40c8-acbc-b0268657d4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1758a-2288-4e2a-b879-1b5dad0e4cfc">
      <Terms xmlns="http://schemas.microsoft.com/office/infopath/2007/PartnerControls"/>
    </lcf76f155ced4ddcb4097134ff3c332f>
    <TaxCatchAll xmlns="04706fbb-3dbe-40c8-acbc-b0268657d405" xsi:nil="true"/>
  </documentManagement>
</p:properties>
</file>

<file path=customXml/itemProps1.xml><?xml version="1.0" encoding="utf-8"?>
<ds:datastoreItem xmlns:ds="http://schemas.openxmlformats.org/officeDocument/2006/customXml" ds:itemID="{9FE45E69-4A38-4F72-BD27-FF6D0F4377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9A378B-A047-4B9B-A1E2-34C2D98A62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91758a-2288-4e2a-b879-1b5dad0e4cfc"/>
    <ds:schemaRef ds:uri="04706fbb-3dbe-40c8-acbc-b0268657d4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239AE2-4CC0-47C7-965D-7788BFB0AB12}">
  <ds:schemaRefs>
    <ds:schemaRef ds:uri="http://purl.org/dc/dcmitype/"/>
    <ds:schemaRef ds:uri="fa91758a-2288-4e2a-b879-1b5dad0e4cfc"/>
    <ds:schemaRef ds:uri="http://purl.org/dc/terms/"/>
    <ds:schemaRef ds:uri="04706fbb-3dbe-40c8-acbc-b0268657d405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888</Words>
  <Application>Microsoft Office PowerPoint</Application>
  <PresentationFormat>Widescreen</PresentationFormat>
  <Paragraphs>210</Paragraphs>
  <Slides>54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Aptos</vt:lpstr>
      <vt:lpstr>Aptos Black</vt:lpstr>
      <vt:lpstr>Arial</vt:lpstr>
      <vt:lpstr>Segoe UI</vt:lpstr>
      <vt:lpstr>Session Slides</vt:lpstr>
      <vt:lpstr>Sponsor Slide</vt:lpstr>
      <vt:lpstr>PowerPoint Presentation</vt:lpstr>
      <vt:lpstr> Admin Bouncers: How Endpoint Privilege Management Keeps Your Local Admin Party Exclusive! </vt:lpstr>
      <vt:lpstr>Jens Du Four</vt:lpstr>
      <vt:lpstr>PowerPoint Presentation</vt:lpstr>
      <vt:lpstr>What is the problem?</vt:lpstr>
      <vt:lpstr>How does it work?</vt:lpstr>
      <vt:lpstr>How does it work?</vt:lpstr>
      <vt:lpstr>Getting started with EPM!</vt:lpstr>
      <vt:lpstr>Getting started with EPM!</vt:lpstr>
      <vt:lpstr>Deploy an Elevation Settings Policy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Getting started with EPM!</vt:lpstr>
      <vt:lpstr>What types of Elevation Rules Policies are there?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end-user experience</vt:lpstr>
      <vt:lpstr>What types of Elevation Rules Policies are there?</vt:lpstr>
      <vt:lpstr>PowerPoint Presentation</vt:lpstr>
      <vt:lpstr>What types of Elevation Rules Policies are there?</vt:lpstr>
      <vt:lpstr>PowerPoint Presentation</vt:lpstr>
      <vt:lpstr>What types of Elevation Rules Policies are there?</vt:lpstr>
      <vt:lpstr>PowerPoint Presentation</vt:lpstr>
      <vt:lpstr>Managing the guest list – Elevation Requests</vt:lpstr>
      <vt:lpstr>PowerPoint Presentation</vt:lpstr>
      <vt:lpstr>Getting started with EPM!</vt:lpstr>
      <vt:lpstr>Keeping it manageable – Reusable Settings</vt:lpstr>
      <vt:lpstr>PowerPoint Presentation</vt:lpstr>
      <vt:lpstr>PowerPoint Presentation</vt:lpstr>
      <vt:lpstr>PowerPoint Presentation</vt:lpstr>
      <vt:lpstr>Don’t reinvent the wheel - Reports</vt:lpstr>
      <vt:lpstr>PowerPoint Presentation</vt:lpstr>
      <vt:lpstr>PowerPoint Presentation</vt:lpstr>
      <vt:lpstr>PowerPoint Presentation</vt:lpstr>
      <vt:lpstr>Harvesting Certificates – EpmTools PowerShell module</vt:lpstr>
      <vt:lpstr>EpmTools PowerShell module</vt:lpstr>
      <vt:lpstr>PowerPoint Presentation</vt:lpstr>
      <vt:lpstr>PowerPoint Presentation</vt:lpstr>
      <vt:lpstr>PowerPoint Presentation</vt:lpstr>
      <vt:lpstr>Deployment considerations for Endpoint Privilege Management</vt:lpstr>
      <vt:lpstr>What can go wrong…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Barry</dc:creator>
  <cp:lastModifiedBy>Jens Du Four</cp:lastModifiedBy>
  <cp:revision>14</cp:revision>
  <dcterms:created xsi:type="dcterms:W3CDTF">2025-02-08T13:16:44Z</dcterms:created>
  <dcterms:modified xsi:type="dcterms:W3CDTF">2025-06-18T11:17:13Z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0x01010063BCAF23DF094D4C98196066D1F95540</vt:lpwstr>
  </property>
  <property fmtid="{D5CDD505-2E9C-101B-9397-08002B2CF9AE}" pid="3" name="MediaServiceImageTags">
    <vt:lpwstr/>
  </property>
</Properties>
</file>